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1" r:id="rId1"/>
  </p:sldMasterIdLst>
  <p:notesMasterIdLst>
    <p:notesMasterId r:id="rId14"/>
  </p:notesMasterIdLst>
  <p:sldIdLst>
    <p:sldId id="256" r:id="rId2"/>
    <p:sldId id="257" r:id="rId3"/>
    <p:sldId id="269" r:id="rId4"/>
    <p:sldId id="258" r:id="rId5"/>
    <p:sldId id="259" r:id="rId6"/>
    <p:sldId id="260" r:id="rId7"/>
    <p:sldId id="261" r:id="rId8"/>
    <p:sldId id="267" r:id="rId9"/>
    <p:sldId id="264" r:id="rId10"/>
    <p:sldId id="263" r:id="rId11"/>
    <p:sldId id="265" r:id="rId12"/>
    <p:sldId id="266" r:id="rId13"/>
  </p:sldIdLst>
  <p:sldSz cx="14630400" cy="8229600"/>
  <p:notesSz cx="8229600" cy="14630400"/>
  <p:embeddedFontLst>
    <p:embeddedFont>
      <p:font typeface="IBM Plex Sans Medium" panose="020B0603050203000203" pitchFamily="34" charset="0"/>
      <p:regular r:id="rId15"/>
      <p:italic r:id="rId16"/>
    </p:embeddedFont>
    <p:embeddedFont>
      <p:font typeface="Roboto" panose="02000000000000000000" pitchFamily="2" charset="0"/>
      <p:regular r:id="rId17"/>
      <p:bold r:id="rId18"/>
      <p:italic r:id="rId19"/>
    </p:embeddedFont>
    <p:embeddedFont>
      <p:font typeface="Roboto Mono Medium" panose="00000009000000000000" pitchFamily="49" charset="0"/>
      <p:regular r:id="rId20"/>
      <p:italic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1367" autoAdjust="0"/>
  </p:normalViewPr>
  <p:slideViewPr>
    <p:cSldViewPr snapToGrid="0" snapToObjects="1">
      <p:cViewPr varScale="1">
        <p:scale>
          <a:sx n="54" d="100"/>
          <a:sy n="54" d="100"/>
        </p:scale>
        <p:origin x="1397" y="7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4049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Good afternoon everyone, I am Sai Shreyas Gubbi Harish and now I will be presenting on my </a:t>
            </a:r>
            <a:r>
              <a:rPr lang="en-US" dirty="0" err="1"/>
              <a:t>ThermoSentinel</a:t>
            </a:r>
            <a:r>
              <a:rPr lang="en-US" dirty="0"/>
              <a:t> Project which is basically a unified </a:t>
            </a:r>
            <a:r>
              <a:rPr lang="en-US" dirty="0">
                <a:solidFill>
                  <a:srgbClr val="E5E0DF"/>
                </a:solidFill>
                <a:latin typeface="Roboto" pitchFamily="34" charset="0"/>
                <a:ea typeface="Roboto" pitchFamily="34" charset="-122"/>
                <a:cs typeface="Roboto" pitchFamily="34" charset="-120"/>
              </a:rPr>
              <a:t>Platform Powered by  </a:t>
            </a:r>
            <a:r>
              <a:rPr lang="en-US" sz="1200" dirty="0">
                <a:solidFill>
                  <a:srgbClr val="D4D4D1"/>
                </a:solidFill>
                <a:latin typeface="Roboto" pitchFamily="34" charset="0"/>
                <a:ea typeface="Roboto" pitchFamily="34" charset="-122"/>
                <a:cs typeface="Roboto" pitchFamily="34" charset="-120"/>
              </a:rPr>
              <a:t>Edge Fog Cloud environmental monitoring system especially for data centers: which detects heat, humidity, airflow loss, pressure and smoke before they turn into a big disasters.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main problem is the environmental issues in data </a:t>
            </a:r>
            <a:r>
              <a:rPr lang="en-IN" sz="1200" kern="1200" dirty="0" err="1">
                <a:solidFill>
                  <a:schemeClr val="tx1"/>
                </a:solidFill>
                <a:effectLst/>
                <a:latin typeface="+mn-lt"/>
                <a:ea typeface="+mn-ea"/>
                <a:cs typeface="+mn-cs"/>
              </a:rPr>
              <a:t>centers</a:t>
            </a:r>
            <a:r>
              <a:rPr lang="en-IN" sz="1200" kern="1200" dirty="0">
                <a:solidFill>
                  <a:schemeClr val="tx1"/>
                </a:solidFill>
                <a:effectLst/>
                <a:latin typeface="+mn-lt"/>
                <a:ea typeface="+mn-ea"/>
                <a:cs typeface="+mn-cs"/>
              </a:rPr>
              <a:t> escalate very quickly. Even a small rise in temperature or a unmonitored changes can damage servers and lead to downtime, huge operational cost and time to setup whole system again.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dirty="0"/>
              <a:t>These are some of the real world datacenter breakdown which you can see on this slide.</a:t>
            </a:r>
            <a:endParaRPr lang="en-IN" dirty="0"/>
          </a:p>
        </p:txBody>
      </p:sp>
    </p:spTree>
    <p:extLst>
      <p:ext uri="{BB962C8B-B14F-4D97-AF65-F5344CB8AC3E}">
        <p14:creationId xmlns:p14="http://schemas.microsoft.com/office/powerpoint/2010/main" val="2010221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So my objectives were: • To Build a full pipeline from sensors → to→ cloud. • Provide a dashboard with live metrics, rack views and alerts. • Showing trends, risk scoring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 And make the system deployed using serverless scalable cloud components because as you can all these pictures were taken during my visit to </a:t>
            </a:r>
            <a:r>
              <a:rPr lang="en-US" sz="1200" kern="1200" dirty="0">
                <a:solidFill>
                  <a:schemeClr val="tx1"/>
                </a:solidFill>
                <a:effectLst/>
                <a:latin typeface="+mn-lt"/>
                <a:ea typeface="+mn-ea"/>
                <a:cs typeface="+mn-cs"/>
              </a:rPr>
              <a:t>Susquehanna Datacenter last month located near Connolly which actually helped me come up with this solution. </a:t>
            </a:r>
            <a:endParaRPr lang="en-I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architecture follows the classic </a:t>
            </a:r>
            <a:r>
              <a:rPr lang="en-IN" sz="1200" b="1" kern="1200" dirty="0">
                <a:solidFill>
                  <a:schemeClr val="tx1"/>
                </a:solidFill>
                <a:effectLst/>
                <a:latin typeface="+mn-lt"/>
                <a:ea typeface="+mn-ea"/>
                <a:cs typeface="+mn-cs"/>
              </a:rPr>
              <a:t>edge → fog → cloud</a:t>
            </a:r>
            <a:r>
              <a:rPr lang="en-IN" sz="1200" kern="1200" dirty="0">
                <a:solidFill>
                  <a:schemeClr val="tx1"/>
                </a:solidFill>
                <a:effectLst/>
                <a:latin typeface="+mn-lt"/>
                <a:ea typeface="+mn-ea"/>
                <a:cs typeface="+mn-cs"/>
              </a:rPr>
              <a:t> model.</a:t>
            </a:r>
          </a:p>
          <a:p>
            <a:r>
              <a:rPr lang="en-IN" sz="1200" kern="1200" dirty="0">
                <a:solidFill>
                  <a:schemeClr val="tx1"/>
                </a:solidFill>
                <a:effectLst/>
                <a:latin typeface="+mn-lt"/>
                <a:ea typeface="+mn-ea"/>
                <a:cs typeface="+mn-cs"/>
              </a:rPr>
              <a:t>Now lets go through the application first, </a:t>
            </a:r>
          </a:p>
          <a:p>
            <a:r>
              <a:rPr lang="en-IN" sz="1200" kern="1200" dirty="0">
                <a:solidFill>
                  <a:schemeClr val="tx1"/>
                </a:solidFill>
                <a:effectLst/>
                <a:latin typeface="+mn-lt"/>
                <a:ea typeface="+mn-ea"/>
                <a:cs typeface="+mn-cs"/>
              </a:rPr>
              <a:t>So, Sensors generate readings through randomly produced data logic running on my local PC. Passed through MQTT on AWS IOT Core. Then fog node validates and batches them. Uses SQS to send it to the cloud layer which uses </a:t>
            </a:r>
            <a:r>
              <a:rPr lang="en-IN" sz="1200" b="1" kern="1200" dirty="0">
                <a:solidFill>
                  <a:schemeClr val="tx1"/>
                </a:solidFill>
                <a:effectLst/>
                <a:latin typeface="+mn-lt"/>
                <a:ea typeface="+mn-ea"/>
                <a:cs typeface="+mn-cs"/>
              </a:rPr>
              <a:t>API Gateway, Lambda, DynamoDB and SNS</a:t>
            </a:r>
            <a:r>
              <a:rPr lang="en-IN" sz="1200" kern="1200" dirty="0">
                <a:solidFill>
                  <a:schemeClr val="tx1"/>
                </a:solidFill>
                <a:effectLst/>
                <a:latin typeface="+mn-lt"/>
                <a:ea typeface="+mn-ea"/>
                <a:cs typeface="+mn-cs"/>
              </a:rPr>
              <a:t>. The dashboard is hosted on AWS Amplify from the github repo.</a:t>
            </a:r>
          </a:p>
          <a:p>
            <a:r>
              <a:rPr lang="en-IN" sz="1200" kern="1200" dirty="0">
                <a:solidFill>
                  <a:schemeClr val="tx1"/>
                </a:solidFill>
                <a:effectLst/>
                <a:latin typeface="+mn-lt"/>
                <a:ea typeface="+mn-ea"/>
                <a:cs typeface="+mn-cs"/>
              </a:rPr>
              <a:t>This build keeps the system scalable, low‑cost and resilient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To model this real data </a:t>
            </a:r>
            <a:r>
              <a:rPr lang="en-IN" sz="1200" kern="1200" dirty="0" err="1">
                <a:solidFill>
                  <a:schemeClr val="tx1"/>
                </a:solidFill>
                <a:effectLst/>
                <a:latin typeface="+mn-lt"/>
                <a:ea typeface="+mn-ea"/>
                <a:cs typeface="+mn-cs"/>
              </a:rPr>
              <a:t>center</a:t>
            </a:r>
            <a:r>
              <a:rPr lang="en-IN" sz="1200" kern="1200" dirty="0">
                <a:solidFill>
                  <a:schemeClr val="tx1"/>
                </a:solidFill>
                <a:effectLst/>
                <a:latin typeface="+mn-lt"/>
                <a:ea typeface="+mn-ea"/>
                <a:cs typeface="+mn-cs"/>
              </a:rPr>
              <a:t> setup, I have considered reference of these five types of sensors:</a:t>
            </a:r>
          </a:p>
          <a:p>
            <a:r>
              <a:rPr lang="en-IN" sz="1200" kern="1200" dirty="0">
                <a:solidFill>
                  <a:schemeClr val="tx1"/>
                </a:solidFill>
                <a:effectLst/>
                <a:latin typeface="+mn-lt"/>
                <a:ea typeface="+mn-ea"/>
                <a:cs typeface="+mn-cs"/>
              </a:rPr>
              <a:t>• </a:t>
            </a:r>
            <a:r>
              <a:rPr lang="en-IN" sz="1200" b="1" kern="1200" dirty="0">
                <a:solidFill>
                  <a:schemeClr val="tx1"/>
                </a:solidFill>
                <a:effectLst/>
                <a:latin typeface="+mn-lt"/>
                <a:ea typeface="+mn-ea"/>
                <a:cs typeface="+mn-cs"/>
              </a:rPr>
              <a:t>DS18B20</a:t>
            </a:r>
            <a:r>
              <a:rPr lang="en-IN" sz="1200" kern="1200" dirty="0">
                <a:solidFill>
                  <a:schemeClr val="tx1"/>
                </a:solidFill>
                <a:effectLst/>
                <a:latin typeface="+mn-lt"/>
                <a:ea typeface="+mn-ea"/>
                <a:cs typeface="+mn-cs"/>
              </a:rPr>
              <a:t> for temperature • </a:t>
            </a:r>
            <a:r>
              <a:rPr lang="en-IN" sz="1200" b="1" kern="1200" dirty="0">
                <a:solidFill>
                  <a:schemeClr val="tx1"/>
                </a:solidFill>
                <a:effectLst/>
                <a:latin typeface="+mn-lt"/>
                <a:ea typeface="+mn-ea"/>
                <a:cs typeface="+mn-cs"/>
              </a:rPr>
              <a:t>ENS210</a:t>
            </a:r>
            <a:r>
              <a:rPr lang="en-IN" sz="1200" kern="1200" dirty="0">
                <a:solidFill>
                  <a:schemeClr val="tx1"/>
                </a:solidFill>
                <a:effectLst/>
                <a:latin typeface="+mn-lt"/>
                <a:ea typeface="+mn-ea"/>
                <a:cs typeface="+mn-cs"/>
              </a:rPr>
              <a:t> for humidity • </a:t>
            </a:r>
            <a:r>
              <a:rPr lang="en-IN" sz="1200" b="1" kern="1200" dirty="0">
                <a:solidFill>
                  <a:schemeClr val="tx1"/>
                </a:solidFill>
                <a:effectLst/>
                <a:latin typeface="+mn-lt"/>
                <a:ea typeface="+mn-ea"/>
                <a:cs typeface="+mn-cs"/>
              </a:rPr>
              <a:t>SDP810‑500PA</a:t>
            </a:r>
            <a:r>
              <a:rPr lang="en-IN" sz="1200" kern="1200" dirty="0">
                <a:solidFill>
                  <a:schemeClr val="tx1"/>
                </a:solidFill>
                <a:effectLst/>
                <a:latin typeface="+mn-lt"/>
                <a:ea typeface="+mn-ea"/>
                <a:cs typeface="+mn-cs"/>
              </a:rPr>
              <a:t> for pressure • </a:t>
            </a:r>
            <a:r>
              <a:rPr lang="en-IN" sz="1200" b="1" kern="1200" dirty="0">
                <a:solidFill>
                  <a:schemeClr val="tx1"/>
                </a:solidFill>
                <a:effectLst/>
                <a:latin typeface="+mn-lt"/>
                <a:ea typeface="+mn-ea"/>
                <a:cs typeface="+mn-cs"/>
              </a:rPr>
              <a:t>SFM3400‑33‑D</a:t>
            </a:r>
            <a:r>
              <a:rPr lang="en-IN" sz="1200" kern="1200" dirty="0">
                <a:solidFill>
                  <a:schemeClr val="tx1"/>
                </a:solidFill>
                <a:effectLst/>
                <a:latin typeface="+mn-lt"/>
                <a:ea typeface="+mn-ea"/>
                <a:cs typeface="+mn-cs"/>
              </a:rPr>
              <a:t> for airflow • </a:t>
            </a:r>
            <a:r>
              <a:rPr lang="en-IN" sz="1200" b="1" kern="1200" dirty="0">
                <a:solidFill>
                  <a:schemeClr val="tx1"/>
                </a:solidFill>
                <a:effectLst/>
                <a:latin typeface="+mn-lt"/>
                <a:ea typeface="+mn-ea"/>
                <a:cs typeface="+mn-cs"/>
              </a:rPr>
              <a:t>TITANUS RACK·SENS</a:t>
            </a:r>
            <a:r>
              <a:rPr lang="en-IN" sz="1200" kern="1200" dirty="0">
                <a:solidFill>
                  <a:schemeClr val="tx1"/>
                </a:solidFill>
                <a:effectLst/>
                <a:latin typeface="+mn-lt"/>
                <a:ea typeface="+mn-ea"/>
                <a:cs typeface="+mn-cs"/>
              </a:rPr>
              <a:t> for smoke and fire</a:t>
            </a:r>
          </a:p>
          <a:p>
            <a:r>
              <a:rPr lang="en-IN" sz="1200" kern="1200" dirty="0">
                <a:solidFill>
                  <a:schemeClr val="tx1"/>
                </a:solidFill>
                <a:effectLst/>
                <a:latin typeface="+mn-lt"/>
                <a:ea typeface="+mn-ea"/>
                <a:cs typeface="+mn-cs"/>
              </a:rPr>
              <a:t>These sensors represent what real facilities actually use for environmental monitoring at edge level.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For the fog layer, I have selected the </a:t>
            </a:r>
            <a:r>
              <a:rPr lang="en-IN" sz="1200" b="1" kern="1200" dirty="0">
                <a:solidFill>
                  <a:schemeClr val="tx1"/>
                </a:solidFill>
                <a:effectLst/>
                <a:latin typeface="+mn-lt"/>
                <a:ea typeface="+mn-ea"/>
                <a:cs typeface="+mn-cs"/>
              </a:rPr>
              <a:t>Advantech UNO‑1372G</a:t>
            </a:r>
            <a:r>
              <a:rPr lang="en-IN" sz="1200" kern="1200" dirty="0">
                <a:solidFill>
                  <a:schemeClr val="tx1"/>
                </a:solidFill>
                <a:effectLst/>
                <a:latin typeface="+mn-lt"/>
                <a:ea typeface="+mn-ea"/>
                <a:cs typeface="+mn-cs"/>
              </a:rPr>
              <a:t>, which is an industrial IoT gateway.</a:t>
            </a:r>
          </a:p>
          <a:p>
            <a:r>
              <a:rPr lang="en-IN" sz="1200" kern="1200" dirty="0">
                <a:solidFill>
                  <a:schemeClr val="tx1"/>
                </a:solidFill>
                <a:effectLst/>
                <a:latin typeface="+mn-lt"/>
                <a:ea typeface="+mn-ea"/>
                <a:cs typeface="+mn-cs"/>
              </a:rPr>
              <a:t>It can ingest multiple sensor types, buffer data, filter it and send it to the cloud. It’s rugged and commonly used in industrial environments.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scalability, </a:t>
            </a:r>
            <a:r>
              <a:rPr lang="en-US" dirty="0" err="1"/>
              <a:t>im</a:t>
            </a:r>
            <a:r>
              <a:rPr lang="en-US" dirty="0"/>
              <a:t> using </a:t>
            </a:r>
            <a:r>
              <a:rPr lang="en-IN" sz="1200" b="1" kern="1200" dirty="0">
                <a:solidFill>
                  <a:schemeClr val="tx1"/>
                </a:solidFill>
                <a:effectLst/>
                <a:latin typeface="+mn-lt"/>
                <a:ea typeface="+mn-ea"/>
                <a:cs typeface="+mn-cs"/>
              </a:rPr>
              <a:t>API Gateway and Lambda, so api scales automatically with demand.</a:t>
            </a:r>
            <a:br>
              <a:rPr lang="en-IN" sz="1200" b="1" kern="1200" dirty="0">
                <a:solidFill>
                  <a:schemeClr val="tx1"/>
                </a:solidFill>
                <a:effectLst/>
                <a:latin typeface="+mn-lt"/>
                <a:ea typeface="+mn-ea"/>
                <a:cs typeface="+mn-cs"/>
              </a:rPr>
            </a:br>
            <a:r>
              <a:rPr lang="en-IN" sz="1200" b="1" kern="1200" dirty="0">
                <a:solidFill>
                  <a:schemeClr val="tx1"/>
                </a:solidFill>
                <a:effectLst/>
                <a:latin typeface="+mn-lt"/>
                <a:ea typeface="+mn-ea"/>
                <a:cs typeface="+mn-cs"/>
              </a:rPr>
              <a:t>Using SQS to handle higher user requests from background processing</a:t>
            </a:r>
          </a:p>
          <a:p>
            <a:r>
              <a:rPr lang="en-IN" sz="1200" b="1" kern="1200" dirty="0">
                <a:solidFill>
                  <a:schemeClr val="tx1"/>
                </a:solidFill>
                <a:effectLst/>
                <a:latin typeface="+mn-lt"/>
                <a:ea typeface="+mn-ea"/>
                <a:cs typeface="+mn-cs"/>
              </a:rPr>
              <a:t>Storing results in DynamoDB giving managed storage without manual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hardest part of the project was </a:t>
            </a:r>
            <a:r>
              <a:rPr lang="en-US" sz="1200" dirty="0">
                <a:solidFill>
                  <a:srgbClr val="D4D4D1"/>
                </a:solidFill>
                <a:latin typeface="Roboto" pitchFamily="34" charset="0"/>
                <a:ea typeface="Roboto" pitchFamily="34" charset="-122"/>
                <a:cs typeface="Roboto" pitchFamily="34" charset="-120"/>
              </a:rPr>
              <a:t>Integrating the local server running sensors data pipeline with the cloud API and add to statically exported Amplify</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I faced issues because </a:t>
            </a:r>
            <a:r>
              <a:rPr lang="en-US" b="1" dirty="0">
                <a:solidFill>
                  <a:srgbClr val="D4D4D1"/>
                </a:solidFill>
                <a:latin typeface="Roboto" pitchFamily="34" charset="0"/>
                <a:ea typeface="Roboto" pitchFamily="34" charset="-122"/>
                <a:cs typeface="Roboto" pitchFamily="34" charset="-120"/>
              </a:rPr>
              <a:t>Amplify doesn’t allow any http-based URL’s </a:t>
            </a:r>
            <a:r>
              <a:rPr lang="en-US" dirty="0">
                <a:solidFill>
                  <a:srgbClr val="D4D4D1"/>
                </a:solidFill>
                <a:latin typeface="Roboto" pitchFamily="34" charset="0"/>
                <a:ea typeface="Roboto" pitchFamily="34" charset="-122"/>
                <a:cs typeface="Roboto" pitchFamily="34" charset="-120"/>
              </a:rPr>
              <a:t>but local host runs on port 3000 and is http based.</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I solved this by </a:t>
            </a:r>
            <a:r>
              <a:rPr lang="en-US" dirty="0">
                <a:solidFill>
                  <a:srgbClr val="D4D4D1"/>
                </a:solidFill>
                <a:latin typeface="Roboto" pitchFamily="34" charset="0"/>
                <a:ea typeface="Roboto" pitchFamily="34" charset="-122"/>
                <a:cs typeface="Roboto" pitchFamily="34" charset="-120"/>
              </a:rPr>
              <a:t>Using </a:t>
            </a:r>
            <a:r>
              <a:rPr lang="en-US" dirty="0" err="1">
                <a:solidFill>
                  <a:srgbClr val="D4D4D1"/>
                </a:solidFill>
                <a:latin typeface="Roboto" pitchFamily="34" charset="0"/>
                <a:ea typeface="Roboto" pitchFamily="34" charset="-122"/>
                <a:cs typeface="Roboto" pitchFamily="34" charset="-120"/>
              </a:rPr>
              <a:t>ngrok</a:t>
            </a:r>
            <a:r>
              <a:rPr lang="en-US" dirty="0">
                <a:solidFill>
                  <a:srgbClr val="D4D4D1"/>
                </a:solidFill>
                <a:latin typeface="Roboto" pitchFamily="34" charset="0"/>
                <a:ea typeface="Roboto" pitchFamily="34" charset="-122"/>
                <a:cs typeface="Roboto" pitchFamily="34" charset="-120"/>
              </a:rPr>
              <a:t> to provide the https version of the localhost and acts as live server which made easy for this integration.</a:t>
            </a:r>
          </a:p>
          <a:p>
            <a:r>
              <a:rPr lang="en-IN" sz="1200" kern="1200" dirty="0">
                <a:solidFill>
                  <a:schemeClr val="tx1"/>
                </a:solidFill>
                <a:effectLst/>
                <a:latin typeface="+mn-lt"/>
                <a:ea typeface="+mn-ea"/>
                <a:cs typeface="+mn-cs"/>
              </a:rPr>
              <a:t>This made the system stable in both local and cloud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As we saw few of the key features were: • Rack level status: Normal, Warning or Critical • Scenario toggles like AC failure, humidity spike, airflow loss and smoke events • And a risk score that updates automatically</a:t>
            </a:r>
          </a:p>
          <a:p>
            <a:r>
              <a:rPr lang="en-IN" sz="1200" kern="1200" dirty="0">
                <a:solidFill>
                  <a:schemeClr val="tx1"/>
                </a:solidFill>
                <a:effectLst/>
                <a:latin typeface="+mn-lt"/>
                <a:ea typeface="+mn-ea"/>
                <a:cs typeface="+mn-cs"/>
              </a:rPr>
              <a:t>This shows how operators can detect issues before they become disasters. Talking about Future scope, adding on more </a:t>
            </a:r>
            <a:r>
              <a:rPr lang="en-IN" sz="1200" kern="1200" dirty="0" err="1">
                <a:solidFill>
                  <a:schemeClr val="tx1"/>
                </a:solidFill>
                <a:effectLst/>
                <a:latin typeface="+mn-lt"/>
                <a:ea typeface="+mn-ea"/>
                <a:cs typeface="+mn-cs"/>
              </a:rPr>
              <a:t>sesnors</a:t>
            </a:r>
            <a:r>
              <a:rPr lang="en-IN" sz="1200" kern="1200" dirty="0">
                <a:solidFill>
                  <a:schemeClr val="tx1"/>
                </a:solidFill>
                <a:effectLst/>
                <a:latin typeface="+mn-lt"/>
                <a:ea typeface="+mn-ea"/>
                <a:cs typeface="+mn-cs"/>
              </a:rPr>
              <a:t> and expanding the coverage and triggered based automation tasks and Ai driven prediction and recommendations to ensure optimal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final webapp shows a complete end to end flow.</a:t>
            </a:r>
          </a:p>
          <a:p>
            <a:r>
              <a:rPr lang="en-IN" sz="1200" kern="1200" dirty="0">
                <a:solidFill>
                  <a:schemeClr val="tx1"/>
                </a:solidFill>
                <a:effectLst/>
                <a:latin typeface="+mn-lt"/>
                <a:ea typeface="+mn-ea"/>
                <a:cs typeface="+mn-cs"/>
              </a:rPr>
              <a:t>Charts refresh every 30 seconds. Rack views update instantly. Risk scoring highlights hotspots. And fog batching demonstrates bandwidth and latency trade offs.</a:t>
            </a:r>
          </a:p>
          <a:p>
            <a:r>
              <a:rPr lang="en-IN" sz="1200" kern="1200" dirty="0">
                <a:solidFill>
                  <a:schemeClr val="tx1"/>
                </a:solidFill>
                <a:effectLst/>
                <a:latin typeface="+mn-lt"/>
                <a:ea typeface="+mn-ea"/>
                <a:cs typeface="+mn-cs"/>
              </a:rPr>
              <a:t>Overall, the system performs reliably and is easy to scalable and extend.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So To conclude:</a:t>
            </a:r>
          </a:p>
          <a:p>
            <a:r>
              <a:rPr lang="en-IN" sz="1200" kern="1200" dirty="0" err="1">
                <a:solidFill>
                  <a:schemeClr val="tx1"/>
                </a:solidFill>
                <a:effectLst/>
                <a:latin typeface="+mn-lt"/>
                <a:ea typeface="+mn-ea"/>
                <a:cs typeface="+mn-cs"/>
              </a:rPr>
              <a:t>ThermoSentinel</a:t>
            </a:r>
            <a:r>
              <a:rPr lang="en-IN" sz="1200" kern="1200" dirty="0">
                <a:solidFill>
                  <a:schemeClr val="tx1"/>
                </a:solidFill>
                <a:effectLst/>
                <a:latin typeface="+mn-lt"/>
                <a:ea typeface="+mn-ea"/>
                <a:cs typeface="+mn-cs"/>
              </a:rPr>
              <a:t> demonstrates a full edge–fog–cloud monitoring model. It reduces the risk of thermal incidents and operational cost. The serverless backend and static UI make it scalable and </a:t>
            </a:r>
            <a:r>
              <a:rPr lang="en-IN" sz="1200" kern="1200">
                <a:solidFill>
                  <a:schemeClr val="tx1"/>
                </a:solidFill>
                <a:effectLst/>
                <a:latin typeface="+mn-lt"/>
                <a:ea typeface="+mn-ea"/>
                <a:cs typeface="+mn-cs"/>
              </a:rPr>
              <a:t>affordable.</a:t>
            </a:r>
            <a:endParaRPr lang="en-IN" sz="1200" kern="1200" dirty="0">
              <a:solidFill>
                <a:schemeClr val="tx1"/>
              </a:solidFill>
              <a:effectLst/>
              <a:latin typeface="+mn-lt"/>
              <a:ea typeface="+mn-ea"/>
              <a:cs typeface="+mn-cs"/>
            </a:endParaRPr>
          </a:p>
          <a:p>
            <a:r>
              <a:rPr lang="en-US" dirty="0"/>
              <a:t>Thank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7720300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5742113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97513798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0980951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4/13/2026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9479998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4/13/2026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0634851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9291359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720683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4876892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617904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9437798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24544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53236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32826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8678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7769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83164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8333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065560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27945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1496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C764DE79-268F-4C1A-8933-263129D2AF90}" type="datetimeFigureOut">
              <a:rPr lang="en-US" dirty="0"/>
              <a:t>4/13/2026</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409602656"/>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80" r:id="rId18"/>
    <p:sldLayoutId id="2147483681" r:id="rId19"/>
    <p:sldLayoutId id="2147483682" r:id="rId20"/>
    <p:sldLayoutId id="2147483683" r:id="rId21"/>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 Id="rId9" Type="http://schemas.openxmlformats.org/officeDocument/2006/relationships/hyperlink" Target="https://main.dx55a7yx23a8.amplifyapp.co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7.xml"/><Relationship Id="rId1" Type="http://schemas.openxmlformats.org/officeDocument/2006/relationships/slideLayout" Target="../slideLayouts/slideLayout17.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9.xml"/><Relationship Id="rId4" Type="http://schemas.openxmlformats.org/officeDocument/2006/relationships/image" Target="../media/image25.jpg"/></Relationships>
</file>

<file path=ppt/slides/_rels/slide10.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8.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280190" y="1539359"/>
            <a:ext cx="5670590" cy="708779"/>
          </a:xfrm>
          <a:prstGeom prst="rect">
            <a:avLst/>
          </a:prstGeom>
          <a:noFill/>
          <a:ln/>
        </p:spPr>
        <p:txBody>
          <a:bodyPr wrap="none" lIns="0" tIns="0" rIns="0" bIns="0" rtlCol="0" anchor="t"/>
          <a:lstStyle/>
          <a:p>
            <a:pPr marL="0" indent="0" algn="l">
              <a:lnSpc>
                <a:spcPts val="5550"/>
              </a:lnSpc>
              <a:buNone/>
            </a:pPr>
            <a:r>
              <a:rPr lang="en-US" sz="6000" dirty="0">
                <a:solidFill>
                  <a:srgbClr val="F3F3F2"/>
                </a:solidFill>
                <a:latin typeface="IBM Plex Sans Medium" pitchFamily="34" charset="0"/>
                <a:ea typeface="IBM Plex Sans Medium" pitchFamily="34" charset="-122"/>
                <a:cs typeface="IBM Plex Sans Medium" pitchFamily="34" charset="-120"/>
              </a:rPr>
              <a:t>ThermoSentinel</a:t>
            </a:r>
            <a:endParaRPr lang="en-US" sz="6000" dirty="0"/>
          </a:p>
        </p:txBody>
      </p:sp>
      <p:sp>
        <p:nvSpPr>
          <p:cNvPr id="4" name="Text 1"/>
          <p:cNvSpPr/>
          <p:nvPr/>
        </p:nvSpPr>
        <p:spPr>
          <a:xfrm>
            <a:off x="6280190" y="2730103"/>
            <a:ext cx="7556421" cy="1088708"/>
          </a:xfrm>
          <a:prstGeom prst="rect">
            <a:avLst/>
          </a:prstGeom>
          <a:noFill/>
          <a:ln/>
        </p:spPr>
        <p:txBody>
          <a:bodyPr wrap="square" lIns="0" tIns="0" rIns="0" bIns="0" rtlCol="0" anchor="t"/>
          <a:lstStyle/>
          <a:p>
            <a:pPr marL="0" indent="0" algn="l">
              <a:lnSpc>
                <a:spcPts val="2850"/>
              </a:lnSpc>
              <a:buNone/>
            </a:pPr>
            <a:r>
              <a:rPr lang="en-US" sz="2000" dirty="0">
                <a:solidFill>
                  <a:srgbClr val="D4D4D1"/>
                </a:solidFill>
                <a:latin typeface="Roboto" pitchFamily="34" charset="0"/>
                <a:ea typeface="Roboto" pitchFamily="34" charset="-122"/>
                <a:cs typeface="Roboto" pitchFamily="34" charset="-120"/>
              </a:rPr>
              <a:t>An unified platform powered by Edge Fog Cloud environmental monitoring system for data centers: detecting heat, humidity, airflow loss, pressure and smoke before they become disasters.</a:t>
            </a:r>
            <a:endParaRPr lang="en-US" sz="2000" dirty="0"/>
          </a:p>
        </p:txBody>
      </p:sp>
      <p:pic>
        <p:nvPicPr>
          <p:cNvPr id="5" name="Image 1" descr="preencoded.png"/>
          <p:cNvPicPr>
            <a:picLocks noChangeAspect="1"/>
          </p:cNvPicPr>
          <p:nvPr/>
        </p:nvPicPr>
        <p:blipFill>
          <a:blip r:embed="rId3"/>
          <a:stretch>
            <a:fillRect/>
          </a:stretch>
        </p:blipFill>
        <p:spPr>
          <a:xfrm>
            <a:off x="6280190" y="4410790"/>
            <a:ext cx="7556421" cy="1856303"/>
          </a:xfrm>
          <a:prstGeom prst="rect">
            <a:avLst/>
          </a:prstGeom>
        </p:spPr>
      </p:pic>
      <p:sp>
        <p:nvSpPr>
          <p:cNvPr id="6" name="Text 2"/>
          <p:cNvSpPr/>
          <p:nvPr/>
        </p:nvSpPr>
        <p:spPr>
          <a:xfrm>
            <a:off x="6251675" y="6956941"/>
            <a:ext cx="7556421" cy="362903"/>
          </a:xfrm>
          <a:prstGeom prst="rect">
            <a:avLst/>
          </a:prstGeom>
          <a:noFill/>
          <a:ln/>
        </p:spPr>
        <p:txBody>
          <a:bodyPr wrap="none" lIns="0" tIns="0" rIns="0" bIns="0" rtlCol="0" anchor="t"/>
          <a:lstStyle/>
          <a:p>
            <a:pPr marL="0" indent="0" algn="l">
              <a:lnSpc>
                <a:spcPts val="2850"/>
              </a:lnSpc>
              <a:buNone/>
            </a:pPr>
            <a:r>
              <a:rPr lang="en-US" sz="2400" dirty="0">
                <a:solidFill>
                  <a:srgbClr val="D4D4D1"/>
                </a:solidFill>
                <a:latin typeface="Roboto" pitchFamily="34" charset="0"/>
                <a:ea typeface="Roboto" pitchFamily="34" charset="-122"/>
                <a:cs typeface="Roboto" pitchFamily="34" charset="-120"/>
              </a:rPr>
              <a:t>   Fog &amp; Edge Computing.</a:t>
            </a:r>
            <a:endParaRPr lang="en-US" sz="2400" dirty="0"/>
          </a:p>
        </p:txBody>
      </p:sp>
      <p:pic>
        <p:nvPicPr>
          <p:cNvPr id="8" name="Picture 7">
            <a:extLst>
              <a:ext uri="{FF2B5EF4-FFF2-40B4-BE49-F238E27FC236}">
                <a16:creationId xmlns:a16="http://schemas.microsoft.com/office/drawing/2014/main" id="{5CBAD7E3-F989-5FDF-D383-F565F2514F2C}"/>
              </a:ext>
            </a:extLst>
          </p:cNvPr>
          <p:cNvPicPr>
            <a:picLocks noChangeAspect="1"/>
          </p:cNvPicPr>
          <p:nvPr/>
        </p:nvPicPr>
        <p:blipFill>
          <a:blip r:embed="rId4"/>
          <a:stretch>
            <a:fillRect/>
          </a:stretch>
        </p:blipFill>
        <p:spPr>
          <a:xfrm>
            <a:off x="-114300" y="0"/>
            <a:ext cx="6172200" cy="822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744141" y="697230"/>
            <a:ext cx="5318284" cy="661035"/>
          </a:xfrm>
          <a:prstGeom prst="rect">
            <a:avLst/>
          </a:prstGeom>
          <a:noFill/>
          <a:ln/>
        </p:spPr>
        <p:txBody>
          <a:bodyPr wrap="none" lIns="0" tIns="0" rIns="0" bIns="0" rtlCol="0" anchor="t"/>
          <a:lstStyle/>
          <a:p>
            <a:pPr marL="0" indent="0" algn="l">
              <a:lnSpc>
                <a:spcPts val="5200"/>
              </a:lnSpc>
              <a:buNone/>
            </a:pPr>
            <a:r>
              <a:rPr lang="en-US" sz="4150" dirty="0">
                <a:solidFill>
                  <a:srgbClr val="F3F3F2"/>
                </a:solidFill>
                <a:latin typeface="IBM Plex Sans Medium" pitchFamily="34" charset="0"/>
                <a:ea typeface="IBM Plex Sans Medium" pitchFamily="34" charset="-122"/>
                <a:cs typeface="IBM Plex Sans Medium" pitchFamily="34" charset="-120"/>
              </a:rPr>
              <a:t>Why ThermoSentinel?</a:t>
            </a:r>
            <a:endParaRPr lang="en-US" sz="4150" dirty="0"/>
          </a:p>
        </p:txBody>
      </p:sp>
      <p:sp>
        <p:nvSpPr>
          <p:cNvPr id="4" name="Text 1"/>
          <p:cNvSpPr/>
          <p:nvPr/>
        </p:nvSpPr>
        <p:spPr>
          <a:xfrm>
            <a:off x="744141" y="1437084"/>
            <a:ext cx="3173135" cy="396597"/>
          </a:xfrm>
          <a:prstGeom prst="rect">
            <a:avLst/>
          </a:prstGeom>
          <a:noFill/>
          <a:ln/>
        </p:spPr>
        <p:txBody>
          <a:bodyPr wrap="none" lIns="0" tIns="0" rIns="0" bIns="0" rtlCol="0" anchor="t"/>
          <a:lstStyle/>
          <a:p>
            <a:pPr marL="0" indent="0" algn="l">
              <a:lnSpc>
                <a:spcPts val="3100"/>
              </a:lnSpc>
              <a:buNone/>
            </a:pPr>
            <a:r>
              <a:rPr lang="en-US" sz="2450" dirty="0">
                <a:solidFill>
                  <a:srgbClr val="F3F3F2"/>
                </a:solidFill>
                <a:latin typeface="IBM Plex Sans Medium" pitchFamily="34" charset="0"/>
                <a:ea typeface="IBM Plex Sans Medium" pitchFamily="34" charset="-122"/>
                <a:cs typeface="IBM Plex Sans Medium" pitchFamily="34" charset="-120"/>
              </a:rPr>
              <a:t>THE PROBLEM</a:t>
            </a:r>
            <a:endParaRPr lang="en-US" sz="2450" dirty="0"/>
          </a:p>
        </p:txBody>
      </p:sp>
      <p:sp>
        <p:nvSpPr>
          <p:cNvPr id="5" name="Text 2"/>
          <p:cNvSpPr/>
          <p:nvPr/>
        </p:nvSpPr>
        <p:spPr>
          <a:xfrm>
            <a:off x="744141" y="2129552"/>
            <a:ext cx="7663339" cy="981194"/>
          </a:xfrm>
          <a:prstGeom prst="rect">
            <a:avLst/>
          </a:prstGeom>
          <a:noFill/>
          <a:ln/>
        </p:spPr>
        <p:txBody>
          <a:bodyPr wrap="square" lIns="0" tIns="0" rIns="0" bIns="0" rtlCol="0" anchor="t"/>
          <a:lstStyle/>
          <a:p>
            <a:pPr marL="0" indent="0" algn="l">
              <a:lnSpc>
                <a:spcPts val="2550"/>
              </a:lnSpc>
              <a:buNone/>
            </a:pPr>
            <a:r>
              <a:rPr lang="en-US" sz="1650" dirty="0">
                <a:solidFill>
                  <a:srgbClr val="D4D4D1"/>
                </a:solidFill>
                <a:latin typeface="Roboto" pitchFamily="34" charset="0"/>
                <a:ea typeface="Roboto" pitchFamily="34" charset="-122"/>
                <a:cs typeface="Roboto" pitchFamily="34" charset="-120"/>
              </a:rPr>
              <a:t>Modern data centers operate at the edge of their thermal envelope. Heat buildup, humidity swings, airflow disruption, pressure drops and smoke events can cascade into full scale outages within minutes.</a:t>
            </a:r>
            <a:endParaRPr lang="en-US" sz="1650" dirty="0"/>
          </a:p>
        </p:txBody>
      </p:sp>
      <p:sp>
        <p:nvSpPr>
          <p:cNvPr id="6" name="Shape 3"/>
          <p:cNvSpPr/>
          <p:nvPr/>
        </p:nvSpPr>
        <p:spPr>
          <a:xfrm>
            <a:off x="744141" y="3332678"/>
            <a:ext cx="3732967" cy="2187654"/>
          </a:xfrm>
          <a:prstGeom prst="roundRect">
            <a:avLst>
              <a:gd name="adj" fmla="val 1451"/>
            </a:avLst>
          </a:prstGeom>
          <a:solidFill>
            <a:srgbClr val="484B51"/>
          </a:solidFill>
          <a:ln/>
        </p:spPr>
      </p:sp>
      <p:sp>
        <p:nvSpPr>
          <p:cNvPr id="7" name="Text 4"/>
          <p:cNvSpPr/>
          <p:nvPr/>
        </p:nvSpPr>
        <p:spPr>
          <a:xfrm>
            <a:off x="955596" y="3544133"/>
            <a:ext cx="2644259" cy="338138"/>
          </a:xfrm>
          <a:prstGeom prst="rect">
            <a:avLst/>
          </a:prstGeom>
          <a:noFill/>
          <a:ln/>
        </p:spPr>
        <p:txBody>
          <a:bodyPr wrap="none" lIns="0" tIns="0" rIns="0" bIns="0" rtlCol="0" anchor="t"/>
          <a:lstStyle/>
          <a:p>
            <a:pPr marL="0" indent="0" algn="l">
              <a:lnSpc>
                <a:spcPts val="2600"/>
              </a:lnSpc>
              <a:buNone/>
            </a:pPr>
            <a:r>
              <a:rPr lang="en-US" sz="2050" dirty="0">
                <a:solidFill>
                  <a:srgbClr val="000000"/>
                </a:solidFill>
                <a:latin typeface="IBM Plex Sans Medium" pitchFamily="34" charset="0"/>
                <a:ea typeface="IBM Plex Sans Medium" pitchFamily="34" charset="-122"/>
                <a:cs typeface="IBM Plex Sans Medium" pitchFamily="34" charset="-120"/>
              </a:rPr>
              <a:t>💸</a:t>
            </a:r>
            <a:r>
              <a:rPr lang="en-US" sz="2050" dirty="0">
                <a:solidFill>
                  <a:srgbClr val="D4D4D1"/>
                </a:solidFill>
                <a:latin typeface="IBM Plex Sans Medium" pitchFamily="34" charset="0"/>
                <a:ea typeface="IBM Plex Sans Medium" pitchFamily="34" charset="-122"/>
                <a:cs typeface="IBM Plex Sans Medium" pitchFamily="34" charset="-120"/>
              </a:rPr>
              <a:t> Operational Cost</a:t>
            </a:r>
            <a:endParaRPr lang="en-US" sz="2050" dirty="0"/>
          </a:p>
        </p:txBody>
      </p:sp>
      <p:sp>
        <p:nvSpPr>
          <p:cNvPr id="8" name="Text 5"/>
          <p:cNvSpPr/>
          <p:nvPr/>
        </p:nvSpPr>
        <p:spPr>
          <a:xfrm>
            <a:off x="955596" y="4000619"/>
            <a:ext cx="3310057" cy="1308259"/>
          </a:xfrm>
          <a:prstGeom prst="rect">
            <a:avLst/>
          </a:prstGeom>
          <a:noFill/>
          <a:ln/>
        </p:spPr>
        <p:txBody>
          <a:bodyPr wrap="square" lIns="0" tIns="0" rIns="0" bIns="0" rtlCol="0" anchor="t"/>
          <a:lstStyle/>
          <a:p>
            <a:pPr marL="0" indent="0" algn="l">
              <a:lnSpc>
                <a:spcPts val="2550"/>
              </a:lnSpc>
              <a:buNone/>
            </a:pPr>
            <a:r>
              <a:rPr lang="en-US" sz="1650" dirty="0">
                <a:solidFill>
                  <a:srgbClr val="D4D4D1"/>
                </a:solidFill>
                <a:latin typeface="Roboto" pitchFamily="34" charset="0"/>
                <a:ea typeface="Roboto" pitchFamily="34" charset="-122"/>
                <a:cs typeface="Roboto" pitchFamily="34" charset="-120"/>
              </a:rPr>
              <a:t>Unplanned thermal outages carry massive direct costs from hardware damage to emergency response and SLA penalties.</a:t>
            </a:r>
            <a:endParaRPr lang="en-US" sz="1650" dirty="0"/>
          </a:p>
        </p:txBody>
      </p:sp>
      <p:sp>
        <p:nvSpPr>
          <p:cNvPr id="9" name="Shape 6"/>
          <p:cNvSpPr/>
          <p:nvPr/>
        </p:nvSpPr>
        <p:spPr>
          <a:xfrm>
            <a:off x="4674394" y="3332678"/>
            <a:ext cx="3733086" cy="2187654"/>
          </a:xfrm>
          <a:prstGeom prst="roundRect">
            <a:avLst>
              <a:gd name="adj" fmla="val 1451"/>
            </a:avLst>
          </a:prstGeom>
          <a:solidFill>
            <a:srgbClr val="484B51"/>
          </a:solidFill>
          <a:ln/>
        </p:spPr>
      </p:sp>
      <p:sp>
        <p:nvSpPr>
          <p:cNvPr id="10" name="Text 7"/>
          <p:cNvSpPr/>
          <p:nvPr/>
        </p:nvSpPr>
        <p:spPr>
          <a:xfrm>
            <a:off x="4885849" y="3544133"/>
            <a:ext cx="2644259" cy="338138"/>
          </a:xfrm>
          <a:prstGeom prst="rect">
            <a:avLst/>
          </a:prstGeom>
          <a:noFill/>
          <a:ln/>
        </p:spPr>
        <p:txBody>
          <a:bodyPr wrap="none" lIns="0" tIns="0" rIns="0" bIns="0" rtlCol="0" anchor="t"/>
          <a:lstStyle/>
          <a:p>
            <a:pPr marL="0" indent="0" algn="l">
              <a:lnSpc>
                <a:spcPts val="2600"/>
              </a:lnSpc>
              <a:buNone/>
            </a:pPr>
            <a:r>
              <a:rPr lang="en-US" sz="2050" dirty="0">
                <a:solidFill>
                  <a:srgbClr val="000000"/>
                </a:solidFill>
                <a:latin typeface="IBM Plex Sans Medium" pitchFamily="34" charset="0"/>
                <a:ea typeface="IBM Plex Sans Medium" pitchFamily="34" charset="-122"/>
                <a:cs typeface="IBM Plex Sans Medium" pitchFamily="34" charset="-120"/>
              </a:rPr>
              <a:t>📉</a:t>
            </a:r>
            <a:r>
              <a:rPr lang="en-US" sz="2050" dirty="0">
                <a:solidFill>
                  <a:srgbClr val="D4D4D1"/>
                </a:solidFill>
                <a:latin typeface="IBM Plex Sans Medium" pitchFamily="34" charset="0"/>
                <a:ea typeface="IBM Plex Sans Medium" pitchFamily="34" charset="-122"/>
                <a:cs typeface="IBM Plex Sans Medium" pitchFamily="34" charset="-120"/>
              </a:rPr>
              <a:t> Reputational Risk</a:t>
            </a:r>
            <a:endParaRPr lang="en-US" sz="2050" dirty="0"/>
          </a:p>
        </p:txBody>
      </p:sp>
      <p:sp>
        <p:nvSpPr>
          <p:cNvPr id="11" name="Text 8"/>
          <p:cNvSpPr/>
          <p:nvPr/>
        </p:nvSpPr>
        <p:spPr>
          <a:xfrm>
            <a:off x="4885849" y="4000619"/>
            <a:ext cx="3310176" cy="1308259"/>
          </a:xfrm>
          <a:prstGeom prst="rect">
            <a:avLst/>
          </a:prstGeom>
          <a:noFill/>
          <a:ln/>
        </p:spPr>
        <p:txBody>
          <a:bodyPr wrap="square" lIns="0" tIns="0" rIns="0" bIns="0" rtlCol="0" anchor="t"/>
          <a:lstStyle/>
          <a:p>
            <a:pPr marL="0" indent="0" algn="l">
              <a:lnSpc>
                <a:spcPts val="2550"/>
              </a:lnSpc>
              <a:buNone/>
            </a:pPr>
            <a:r>
              <a:rPr lang="en-US" sz="1650" dirty="0">
                <a:solidFill>
                  <a:srgbClr val="D4D4D1"/>
                </a:solidFill>
                <a:latin typeface="Roboto" pitchFamily="34" charset="0"/>
                <a:ea typeface="Roboto" pitchFamily="34" charset="-122"/>
                <a:cs typeface="Roboto" pitchFamily="34" charset="-120"/>
              </a:rPr>
              <a:t>Downtime erodes customer trust and operator credibility, with long term consequences that outlast the incident itself.</a:t>
            </a:r>
            <a:endParaRPr lang="en-US" sz="1650" dirty="0"/>
          </a:p>
        </p:txBody>
      </p:sp>
      <p:sp>
        <p:nvSpPr>
          <p:cNvPr id="12" name="Shape 9"/>
          <p:cNvSpPr/>
          <p:nvPr/>
        </p:nvSpPr>
        <p:spPr>
          <a:xfrm>
            <a:off x="744141" y="5717619"/>
            <a:ext cx="7663339" cy="1533525"/>
          </a:xfrm>
          <a:prstGeom prst="roundRect">
            <a:avLst>
              <a:gd name="adj" fmla="val 2069"/>
            </a:avLst>
          </a:prstGeom>
          <a:solidFill>
            <a:srgbClr val="484B51"/>
          </a:solidFill>
          <a:ln/>
        </p:spPr>
      </p:sp>
      <p:sp>
        <p:nvSpPr>
          <p:cNvPr id="13" name="Text 10"/>
          <p:cNvSpPr/>
          <p:nvPr/>
        </p:nvSpPr>
        <p:spPr>
          <a:xfrm>
            <a:off x="955596" y="5929074"/>
            <a:ext cx="2644259" cy="338138"/>
          </a:xfrm>
          <a:prstGeom prst="rect">
            <a:avLst/>
          </a:prstGeom>
          <a:noFill/>
          <a:ln/>
        </p:spPr>
        <p:txBody>
          <a:bodyPr wrap="none" lIns="0" tIns="0" rIns="0" bIns="0" rtlCol="0" anchor="t"/>
          <a:lstStyle/>
          <a:p>
            <a:pPr marL="0" indent="0" algn="l">
              <a:lnSpc>
                <a:spcPts val="2600"/>
              </a:lnSpc>
              <a:buNone/>
            </a:pPr>
            <a:r>
              <a:rPr lang="en-US" sz="2050" dirty="0">
                <a:solidFill>
                  <a:srgbClr val="000000"/>
                </a:solidFill>
                <a:latin typeface="IBM Plex Sans Medium" pitchFamily="34" charset="0"/>
                <a:ea typeface="IBM Plex Sans Medium" pitchFamily="34" charset="-122"/>
                <a:cs typeface="IBM Plex Sans Medium" pitchFamily="34" charset="-120"/>
              </a:rPr>
              <a:t>🎯</a:t>
            </a:r>
            <a:r>
              <a:rPr lang="en-US" sz="2050" dirty="0">
                <a:solidFill>
                  <a:srgbClr val="D4D4D1"/>
                </a:solidFill>
                <a:latin typeface="IBM Plex Sans Medium" pitchFamily="34" charset="0"/>
                <a:ea typeface="IBM Plex Sans Medium" pitchFamily="34" charset="-122"/>
                <a:cs typeface="IBM Plex Sans Medium" pitchFamily="34" charset="-120"/>
              </a:rPr>
              <a:t> The Goal</a:t>
            </a:r>
            <a:endParaRPr lang="en-US" sz="2050" dirty="0"/>
          </a:p>
        </p:txBody>
      </p:sp>
      <p:sp>
        <p:nvSpPr>
          <p:cNvPr id="14" name="Text 11"/>
          <p:cNvSpPr/>
          <p:nvPr/>
        </p:nvSpPr>
        <p:spPr>
          <a:xfrm>
            <a:off x="955596" y="6385560"/>
            <a:ext cx="7240429" cy="654129"/>
          </a:xfrm>
          <a:prstGeom prst="rect">
            <a:avLst/>
          </a:prstGeom>
          <a:noFill/>
          <a:ln/>
        </p:spPr>
        <p:txBody>
          <a:bodyPr wrap="square" lIns="0" tIns="0" rIns="0" bIns="0" rtlCol="0" anchor="t"/>
          <a:lstStyle/>
          <a:p>
            <a:pPr marL="0" indent="0" algn="l">
              <a:lnSpc>
                <a:spcPts val="2550"/>
              </a:lnSpc>
              <a:buNone/>
            </a:pPr>
            <a:r>
              <a:rPr lang="en-US" sz="1650" dirty="0">
                <a:solidFill>
                  <a:srgbClr val="D4D4D1"/>
                </a:solidFill>
                <a:latin typeface="Roboto" pitchFamily="34" charset="0"/>
                <a:ea typeface="Roboto" pitchFamily="34" charset="-122"/>
                <a:cs typeface="Roboto" pitchFamily="34" charset="-120"/>
              </a:rPr>
              <a:t>Detect environmental anomalies early, surface risk in real time and empower operators to act before failure occurs.</a:t>
            </a:r>
            <a:endParaRPr lang="en-US" sz="1650" dirty="0"/>
          </a:p>
        </p:txBody>
      </p:sp>
      <p:pic>
        <p:nvPicPr>
          <p:cNvPr id="16" name="Picture 15">
            <a:extLst>
              <a:ext uri="{FF2B5EF4-FFF2-40B4-BE49-F238E27FC236}">
                <a16:creationId xmlns:a16="http://schemas.microsoft.com/office/drawing/2014/main" id="{04337084-3E9E-9103-CC73-DB2C402594C3}"/>
              </a:ext>
            </a:extLst>
          </p:cNvPr>
          <p:cNvPicPr>
            <a:picLocks noChangeAspect="1"/>
          </p:cNvPicPr>
          <p:nvPr/>
        </p:nvPicPr>
        <p:blipFill>
          <a:blip r:embed="rId3"/>
          <a:stretch>
            <a:fillRect/>
          </a:stretch>
        </p:blipFill>
        <p:spPr>
          <a:xfrm>
            <a:off x="8567977" y="29408"/>
            <a:ext cx="6172200" cy="822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6F3D4A-781D-1DF6-C194-3DA3B152CFAA}"/>
              </a:ext>
            </a:extLst>
          </p:cNvPr>
          <p:cNvPicPr>
            <a:picLocks noChangeAspect="1"/>
          </p:cNvPicPr>
          <p:nvPr/>
        </p:nvPicPr>
        <p:blipFill>
          <a:blip r:embed="rId3"/>
          <a:stretch>
            <a:fillRect/>
          </a:stretch>
        </p:blipFill>
        <p:spPr>
          <a:xfrm>
            <a:off x="0" y="0"/>
            <a:ext cx="14630400" cy="4869095"/>
          </a:xfrm>
          <a:prstGeom prst="rect">
            <a:avLst/>
          </a:prstGeom>
        </p:spPr>
      </p:pic>
      <p:pic>
        <p:nvPicPr>
          <p:cNvPr id="5" name="Picture 4">
            <a:extLst>
              <a:ext uri="{FF2B5EF4-FFF2-40B4-BE49-F238E27FC236}">
                <a16:creationId xmlns:a16="http://schemas.microsoft.com/office/drawing/2014/main" id="{AA8389B0-14CC-73C7-A7FC-23E98F4DCA0F}"/>
              </a:ext>
            </a:extLst>
          </p:cNvPr>
          <p:cNvPicPr>
            <a:picLocks noChangeAspect="1"/>
          </p:cNvPicPr>
          <p:nvPr/>
        </p:nvPicPr>
        <p:blipFill>
          <a:blip r:embed="rId4"/>
          <a:stretch>
            <a:fillRect/>
          </a:stretch>
        </p:blipFill>
        <p:spPr>
          <a:xfrm>
            <a:off x="6109526" y="2974645"/>
            <a:ext cx="7706487" cy="4654880"/>
          </a:xfrm>
          <a:prstGeom prst="rect">
            <a:avLst/>
          </a:prstGeom>
        </p:spPr>
      </p:pic>
      <p:pic>
        <p:nvPicPr>
          <p:cNvPr id="7" name="Picture 6">
            <a:extLst>
              <a:ext uri="{FF2B5EF4-FFF2-40B4-BE49-F238E27FC236}">
                <a16:creationId xmlns:a16="http://schemas.microsoft.com/office/drawing/2014/main" id="{58A91F5B-B8E5-F618-5247-8E643C565C6F}"/>
              </a:ext>
            </a:extLst>
          </p:cNvPr>
          <p:cNvPicPr>
            <a:picLocks noChangeAspect="1"/>
          </p:cNvPicPr>
          <p:nvPr/>
        </p:nvPicPr>
        <p:blipFill>
          <a:blip r:embed="rId5"/>
          <a:stretch>
            <a:fillRect/>
          </a:stretch>
        </p:blipFill>
        <p:spPr>
          <a:xfrm>
            <a:off x="191621" y="3468289"/>
            <a:ext cx="6580654" cy="4661297"/>
          </a:xfrm>
          <a:prstGeom prst="rect">
            <a:avLst/>
          </a:prstGeom>
        </p:spPr>
      </p:pic>
    </p:spTree>
    <p:extLst>
      <p:ext uri="{BB962C8B-B14F-4D97-AF65-F5344CB8AC3E}">
        <p14:creationId xmlns:p14="http://schemas.microsoft.com/office/powerpoint/2010/main" val="62426208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5"/>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22315" y="154424"/>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Project Objectives</a:t>
            </a:r>
            <a:endParaRPr lang="en-US" sz="4450" dirty="0"/>
          </a:p>
        </p:txBody>
      </p:sp>
      <p:sp>
        <p:nvSpPr>
          <p:cNvPr id="3" name="Text 1"/>
          <p:cNvSpPr/>
          <p:nvPr/>
        </p:nvSpPr>
        <p:spPr>
          <a:xfrm>
            <a:off x="422315" y="879871"/>
            <a:ext cx="7921586" cy="725805"/>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ThermoSentinel is designed to continuously monitor the data hall, surface anomalies early and reduce risk of costly downtime across every rack facility.</a:t>
            </a:r>
            <a:endParaRPr lang="en-US" sz="1750" dirty="0"/>
          </a:p>
        </p:txBody>
      </p:sp>
      <p:sp>
        <p:nvSpPr>
          <p:cNvPr id="4" name="Shape 2"/>
          <p:cNvSpPr/>
          <p:nvPr/>
        </p:nvSpPr>
        <p:spPr>
          <a:xfrm>
            <a:off x="443507" y="1691281"/>
            <a:ext cx="3499843" cy="3491389"/>
          </a:xfrm>
          <a:prstGeom prst="roundRect">
            <a:avLst>
              <a:gd name="adj" fmla="val 975"/>
            </a:avLst>
          </a:prstGeom>
          <a:solidFill>
            <a:srgbClr val="292C32"/>
          </a:solidFill>
          <a:ln w="30480">
            <a:solidFill>
              <a:srgbClr val="61646A"/>
            </a:solidFill>
            <a:prstDash val="solid"/>
          </a:ln>
        </p:spPr>
      </p:sp>
      <p:sp>
        <p:nvSpPr>
          <p:cNvPr id="5" name="Shape 3"/>
          <p:cNvSpPr/>
          <p:nvPr/>
        </p:nvSpPr>
        <p:spPr>
          <a:xfrm>
            <a:off x="473987" y="1721761"/>
            <a:ext cx="3499843" cy="680442"/>
          </a:xfrm>
          <a:prstGeom prst="rect">
            <a:avLst/>
          </a:prstGeom>
          <a:solidFill>
            <a:srgbClr val="484B51"/>
          </a:solidFill>
          <a:ln/>
        </p:spPr>
      </p:sp>
      <p:sp>
        <p:nvSpPr>
          <p:cNvPr id="6" name="Text 4"/>
          <p:cNvSpPr/>
          <p:nvPr/>
        </p:nvSpPr>
        <p:spPr>
          <a:xfrm>
            <a:off x="1853266" y="1907021"/>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D4D4D1"/>
                </a:solidFill>
                <a:latin typeface="IBM Plex Sans Medium" pitchFamily="34" charset="0"/>
                <a:ea typeface="IBM Plex Sans Medium" pitchFamily="34" charset="-122"/>
                <a:cs typeface="IBM Plex Sans Medium" pitchFamily="34" charset="-120"/>
              </a:rPr>
              <a:t>1</a:t>
            </a:r>
            <a:endParaRPr lang="en-US" sz="2650" dirty="0"/>
          </a:p>
        </p:txBody>
      </p:sp>
      <p:sp>
        <p:nvSpPr>
          <p:cNvPr id="7" name="Text 5"/>
          <p:cNvSpPr/>
          <p:nvPr/>
        </p:nvSpPr>
        <p:spPr>
          <a:xfrm>
            <a:off x="700801" y="2629017"/>
            <a:ext cx="3681770" cy="708660"/>
          </a:xfrm>
          <a:prstGeom prst="rect">
            <a:avLst/>
          </a:prstGeom>
          <a:noFill/>
          <a:ln/>
        </p:spPr>
        <p:txBody>
          <a:bodyPr wrap="square" lIns="0" tIns="0" rIns="0" bIns="0" rtlCol="0" anchor="t"/>
          <a:lstStyle/>
          <a:p>
            <a:pPr marL="0" indent="0" algn="l">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Safe Environmental Envelope</a:t>
            </a:r>
            <a:endParaRPr lang="en-US" sz="2200" dirty="0"/>
          </a:p>
        </p:txBody>
      </p:sp>
      <p:sp>
        <p:nvSpPr>
          <p:cNvPr id="8" name="Text 6"/>
          <p:cNvSpPr/>
          <p:nvPr/>
        </p:nvSpPr>
        <p:spPr>
          <a:xfrm>
            <a:off x="700801" y="3473766"/>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Maintain temperature, humidity, airflow and pressure within safe operating thresholds across all monitored racks.</a:t>
            </a:r>
            <a:endParaRPr lang="en-US" sz="1750" dirty="0"/>
          </a:p>
        </p:txBody>
      </p:sp>
      <p:sp>
        <p:nvSpPr>
          <p:cNvPr id="9" name="Shape 7"/>
          <p:cNvSpPr/>
          <p:nvPr/>
        </p:nvSpPr>
        <p:spPr>
          <a:xfrm>
            <a:off x="4237554" y="1691281"/>
            <a:ext cx="3848161" cy="3491389"/>
          </a:xfrm>
          <a:prstGeom prst="roundRect">
            <a:avLst>
              <a:gd name="adj" fmla="val 975"/>
            </a:avLst>
          </a:prstGeom>
          <a:solidFill>
            <a:srgbClr val="292C32"/>
          </a:solidFill>
          <a:ln w="30480">
            <a:solidFill>
              <a:srgbClr val="61646A"/>
            </a:solidFill>
            <a:prstDash val="solid"/>
          </a:ln>
        </p:spPr>
      </p:sp>
      <p:sp>
        <p:nvSpPr>
          <p:cNvPr id="10" name="Shape 8"/>
          <p:cNvSpPr/>
          <p:nvPr/>
        </p:nvSpPr>
        <p:spPr>
          <a:xfrm>
            <a:off x="4268034" y="1721761"/>
            <a:ext cx="3848161" cy="680442"/>
          </a:xfrm>
          <a:prstGeom prst="rect">
            <a:avLst/>
          </a:prstGeom>
          <a:solidFill>
            <a:srgbClr val="484B51"/>
          </a:solidFill>
          <a:ln/>
        </p:spPr>
      </p:sp>
      <p:sp>
        <p:nvSpPr>
          <p:cNvPr id="11" name="Text 9"/>
          <p:cNvSpPr/>
          <p:nvPr/>
        </p:nvSpPr>
        <p:spPr>
          <a:xfrm>
            <a:off x="5991553" y="1862763"/>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D4D4D1"/>
                </a:solidFill>
                <a:latin typeface="IBM Plex Sans Medium" pitchFamily="34" charset="0"/>
                <a:ea typeface="IBM Plex Sans Medium" pitchFamily="34" charset="-122"/>
                <a:cs typeface="IBM Plex Sans Medium" pitchFamily="34" charset="-120"/>
              </a:rPr>
              <a:t>2</a:t>
            </a:r>
            <a:endParaRPr lang="en-US" sz="2650" dirty="0"/>
          </a:p>
        </p:txBody>
      </p:sp>
      <p:sp>
        <p:nvSpPr>
          <p:cNvPr id="12" name="Text 10"/>
          <p:cNvSpPr/>
          <p:nvPr/>
        </p:nvSpPr>
        <p:spPr>
          <a:xfrm>
            <a:off x="4494848" y="2629017"/>
            <a:ext cx="3681770" cy="708660"/>
          </a:xfrm>
          <a:prstGeom prst="rect">
            <a:avLst/>
          </a:prstGeom>
          <a:noFill/>
          <a:ln/>
        </p:spPr>
        <p:txBody>
          <a:bodyPr wrap="square" lIns="0" tIns="0" rIns="0" bIns="0" rtlCol="0" anchor="t"/>
          <a:lstStyle/>
          <a:p>
            <a:pPr marL="0" indent="0" algn="l">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Edge → Fog → Cloud Pipeline</a:t>
            </a:r>
            <a:endParaRPr lang="en-US" sz="2200" dirty="0"/>
          </a:p>
        </p:txBody>
      </p:sp>
      <p:sp>
        <p:nvSpPr>
          <p:cNvPr id="13" name="Text 11"/>
          <p:cNvSpPr/>
          <p:nvPr/>
        </p:nvSpPr>
        <p:spPr>
          <a:xfrm>
            <a:off x="4494848" y="3473766"/>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Build a three tier real time data pipeline from sensor edge nodes through a local fog gateway to cloud storage and APIs.</a:t>
            </a:r>
            <a:endParaRPr lang="en-US" sz="1750" dirty="0"/>
          </a:p>
        </p:txBody>
      </p:sp>
      <p:sp>
        <p:nvSpPr>
          <p:cNvPr id="14" name="Shape 12"/>
          <p:cNvSpPr/>
          <p:nvPr/>
        </p:nvSpPr>
        <p:spPr>
          <a:xfrm>
            <a:off x="1875651" y="5349952"/>
            <a:ext cx="4196358" cy="2744630"/>
          </a:xfrm>
          <a:prstGeom prst="roundRect">
            <a:avLst>
              <a:gd name="adj" fmla="val 975"/>
            </a:avLst>
          </a:prstGeom>
          <a:solidFill>
            <a:srgbClr val="292C32"/>
          </a:solidFill>
          <a:ln w="30480">
            <a:solidFill>
              <a:srgbClr val="61646A"/>
            </a:solidFill>
            <a:prstDash val="solid"/>
          </a:ln>
        </p:spPr>
      </p:sp>
      <p:sp>
        <p:nvSpPr>
          <p:cNvPr id="15" name="Shape 13"/>
          <p:cNvSpPr/>
          <p:nvPr/>
        </p:nvSpPr>
        <p:spPr>
          <a:xfrm>
            <a:off x="1906131" y="5380431"/>
            <a:ext cx="4135398" cy="534905"/>
          </a:xfrm>
          <a:prstGeom prst="rect">
            <a:avLst/>
          </a:prstGeom>
          <a:solidFill>
            <a:srgbClr val="484B51"/>
          </a:solidFill>
          <a:ln/>
        </p:spPr>
      </p:sp>
      <p:sp>
        <p:nvSpPr>
          <p:cNvPr id="16" name="Text 14"/>
          <p:cNvSpPr/>
          <p:nvPr/>
        </p:nvSpPr>
        <p:spPr>
          <a:xfrm>
            <a:off x="3803750" y="5507947"/>
            <a:ext cx="340162" cy="334327"/>
          </a:xfrm>
          <a:prstGeom prst="rect">
            <a:avLst/>
          </a:prstGeom>
          <a:noFill/>
          <a:ln/>
        </p:spPr>
        <p:txBody>
          <a:bodyPr wrap="none" lIns="0" tIns="0" rIns="0" bIns="0" rtlCol="0" anchor="t"/>
          <a:lstStyle/>
          <a:p>
            <a:pPr marL="0" indent="0" algn="l">
              <a:lnSpc>
                <a:spcPts val="2650"/>
              </a:lnSpc>
              <a:buNone/>
            </a:pPr>
            <a:r>
              <a:rPr lang="en-US" sz="2650" dirty="0">
                <a:solidFill>
                  <a:srgbClr val="D4D4D1"/>
                </a:solidFill>
                <a:latin typeface="IBM Plex Sans Medium" pitchFamily="34" charset="0"/>
                <a:ea typeface="IBM Plex Sans Medium" pitchFamily="34" charset="-122"/>
                <a:cs typeface="IBM Plex Sans Medium" pitchFamily="34" charset="-120"/>
              </a:rPr>
              <a:t>3</a:t>
            </a:r>
            <a:endParaRPr lang="en-US" sz="2650" dirty="0"/>
          </a:p>
        </p:txBody>
      </p:sp>
      <p:sp>
        <p:nvSpPr>
          <p:cNvPr id="17" name="Text 15"/>
          <p:cNvSpPr/>
          <p:nvPr/>
        </p:nvSpPr>
        <p:spPr>
          <a:xfrm>
            <a:off x="2096333" y="6117253"/>
            <a:ext cx="3361968" cy="278544"/>
          </a:xfrm>
          <a:prstGeom prst="rect">
            <a:avLst/>
          </a:prstGeom>
          <a:noFill/>
          <a:ln/>
        </p:spPr>
        <p:txBody>
          <a:bodyPr wrap="none" lIns="0" tIns="0" rIns="0" bIns="0" rtlCol="0" anchor="t"/>
          <a:lstStyle/>
          <a:p>
            <a:pPr marL="0" indent="0" algn="l">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Live Dashboard &amp; Alerting</a:t>
            </a:r>
            <a:endParaRPr lang="en-US" sz="2200" dirty="0"/>
          </a:p>
        </p:txBody>
      </p:sp>
      <p:sp>
        <p:nvSpPr>
          <p:cNvPr id="18" name="Text 16"/>
          <p:cNvSpPr/>
          <p:nvPr/>
        </p:nvSpPr>
        <p:spPr>
          <a:xfrm>
            <a:off x="2126873" y="6597714"/>
            <a:ext cx="3681770" cy="1141131"/>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Roboto" pitchFamily="34" charset="0"/>
                <a:ea typeface="Roboto" pitchFamily="34" charset="-122"/>
                <a:cs typeface="Roboto" pitchFamily="34" charset="-120"/>
              </a:rPr>
              <a:t>Deliver a unified dashboard with live trends, per-rack status views, threshold alerts and dynamic risk scoring.</a:t>
            </a:r>
            <a:endParaRPr lang="en-US" sz="1750" dirty="0"/>
          </a:p>
        </p:txBody>
      </p:sp>
      <p:pic>
        <p:nvPicPr>
          <p:cNvPr id="22" name="Picture 21">
            <a:extLst>
              <a:ext uri="{FF2B5EF4-FFF2-40B4-BE49-F238E27FC236}">
                <a16:creationId xmlns:a16="http://schemas.microsoft.com/office/drawing/2014/main" id="{C11BE7F7-5B0B-D2E2-D9C2-41CE14FE53C3}"/>
              </a:ext>
            </a:extLst>
          </p:cNvPr>
          <p:cNvPicPr>
            <a:picLocks noChangeAspect="1"/>
          </p:cNvPicPr>
          <p:nvPr/>
        </p:nvPicPr>
        <p:blipFill>
          <a:blip r:embed="rId3"/>
          <a:stretch>
            <a:fillRect/>
          </a:stretch>
        </p:blipFill>
        <p:spPr>
          <a:xfrm>
            <a:off x="8458200" y="0"/>
            <a:ext cx="6172200" cy="82296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37831" y="446008"/>
            <a:ext cx="1790891" cy="260866"/>
          </a:xfrm>
          <a:prstGeom prst="roundRect">
            <a:avLst>
              <a:gd name="adj" fmla="val 6819"/>
            </a:avLst>
          </a:prstGeom>
          <a:noFill/>
          <a:ln w="7620">
            <a:solidFill>
              <a:srgbClr val="FFBC8F"/>
            </a:solidFill>
            <a:prstDash val="solid"/>
          </a:ln>
        </p:spPr>
      </p:sp>
      <p:sp>
        <p:nvSpPr>
          <p:cNvPr id="3" name="Text 1"/>
          <p:cNvSpPr/>
          <p:nvPr/>
        </p:nvSpPr>
        <p:spPr>
          <a:xfrm>
            <a:off x="734272" y="498039"/>
            <a:ext cx="1563396" cy="156805"/>
          </a:xfrm>
          <a:prstGeom prst="rect">
            <a:avLst/>
          </a:prstGeom>
          <a:noFill/>
          <a:ln/>
        </p:spPr>
        <p:txBody>
          <a:bodyPr wrap="none" lIns="0" tIns="0" rIns="0" bIns="0" rtlCol="0" anchor="t"/>
          <a:lstStyle/>
          <a:p>
            <a:pPr marL="0" indent="0" algn="l">
              <a:lnSpc>
                <a:spcPts val="1200"/>
              </a:lnSpc>
              <a:buNone/>
            </a:pPr>
            <a:r>
              <a:rPr lang="en-US" sz="1100" dirty="0">
                <a:solidFill>
                  <a:srgbClr val="FFBC8F"/>
                </a:solidFill>
                <a:latin typeface="Roboto" pitchFamily="34" charset="0"/>
                <a:ea typeface="Roboto" pitchFamily="34" charset="-122"/>
                <a:cs typeface="Roboto" pitchFamily="34" charset="-120"/>
              </a:rPr>
              <a:t>SYSTEM ARCHITECTURE</a:t>
            </a:r>
            <a:endParaRPr lang="en-US" sz="1100" dirty="0"/>
          </a:p>
        </p:txBody>
      </p:sp>
      <p:sp>
        <p:nvSpPr>
          <p:cNvPr id="4" name="Text 2"/>
          <p:cNvSpPr/>
          <p:nvPr/>
        </p:nvSpPr>
        <p:spPr>
          <a:xfrm>
            <a:off x="624885" y="1041592"/>
            <a:ext cx="4370712" cy="463153"/>
          </a:xfrm>
          <a:prstGeom prst="rect">
            <a:avLst/>
          </a:prstGeom>
          <a:noFill/>
          <a:ln/>
        </p:spPr>
        <p:txBody>
          <a:bodyPr wrap="none" lIns="0" tIns="0" rIns="0" bIns="0" rtlCol="0" anchor="t"/>
          <a:lstStyle/>
          <a:p>
            <a:pPr marL="0" indent="0" algn="l">
              <a:lnSpc>
                <a:spcPts val="3600"/>
              </a:lnSpc>
              <a:buNone/>
            </a:pPr>
            <a:r>
              <a:rPr lang="en-US" sz="4000" dirty="0">
                <a:solidFill>
                  <a:srgbClr val="F3F3F2"/>
                </a:solidFill>
                <a:latin typeface="IBM Plex Sans Medium" pitchFamily="34" charset="0"/>
                <a:ea typeface="IBM Plex Sans Medium" pitchFamily="34" charset="-122"/>
                <a:cs typeface="IBM Plex Sans Medium" pitchFamily="34" charset="-120"/>
              </a:rPr>
              <a:t>Edge → Fog → Cloud</a:t>
            </a:r>
            <a:endParaRPr lang="en-US" sz="4000" dirty="0"/>
          </a:p>
        </p:txBody>
      </p:sp>
      <p:sp>
        <p:nvSpPr>
          <p:cNvPr id="5" name="Text 3"/>
          <p:cNvSpPr/>
          <p:nvPr/>
        </p:nvSpPr>
        <p:spPr>
          <a:xfrm>
            <a:off x="637832" y="1592292"/>
            <a:ext cx="10337481" cy="611996"/>
          </a:xfrm>
          <a:prstGeom prst="rect">
            <a:avLst/>
          </a:prstGeom>
          <a:noFill/>
          <a:ln/>
        </p:spPr>
        <p:txBody>
          <a:bodyPr wrap="square" lIns="0" tIns="0" rIns="0" bIns="0" rtlCol="0" anchor="t"/>
          <a:lstStyle/>
          <a:p>
            <a:pPr marL="0" indent="0" algn="l">
              <a:buNone/>
            </a:pPr>
            <a:r>
              <a:rPr lang="en-US" sz="2000" dirty="0">
                <a:solidFill>
                  <a:srgbClr val="D4D4D1"/>
                </a:solidFill>
                <a:latin typeface="Roboto" pitchFamily="34" charset="0"/>
                <a:ea typeface="Roboto" pitchFamily="34" charset="-122"/>
                <a:cs typeface="Roboto" pitchFamily="34" charset="-120"/>
              </a:rPr>
              <a:t>Three tiers follow established fog/edge practice each layer has a distinct role in the data pipeline, from raw sensor readings to cloud stored metrics and live visualization.</a:t>
            </a:r>
            <a:endParaRPr lang="en-US" sz="2000" dirty="0"/>
          </a:p>
        </p:txBody>
      </p:sp>
      <p:pic>
        <p:nvPicPr>
          <p:cNvPr id="6" name="Image 0" descr="preencoded.png"/>
          <p:cNvPicPr>
            <a:picLocks noChangeAspect="1"/>
          </p:cNvPicPr>
          <p:nvPr/>
        </p:nvPicPr>
        <p:blipFill>
          <a:blip r:embed="rId3"/>
          <a:stretch>
            <a:fillRect/>
          </a:stretch>
        </p:blipFill>
        <p:spPr>
          <a:xfrm>
            <a:off x="288486" y="1796949"/>
            <a:ext cx="7902416" cy="5445800"/>
          </a:xfrm>
          <a:prstGeom prst="rect">
            <a:avLst/>
          </a:prstGeom>
        </p:spPr>
      </p:pic>
      <p:sp>
        <p:nvSpPr>
          <p:cNvPr id="7" name="Text 4"/>
          <p:cNvSpPr/>
          <p:nvPr/>
        </p:nvSpPr>
        <p:spPr>
          <a:xfrm>
            <a:off x="486448" y="5176473"/>
            <a:ext cx="2159493" cy="287655"/>
          </a:xfrm>
          <a:prstGeom prst="rect">
            <a:avLst/>
          </a:prstGeom>
          <a:noFill/>
          <a:ln/>
        </p:spPr>
        <p:txBody>
          <a:bodyPr wrap="none" lIns="0" tIns="0" rIns="0" bIns="0" rtlCol="0" anchor="t"/>
          <a:lstStyle/>
          <a:p>
            <a:pPr marL="0" indent="0" algn="ctr">
              <a:lnSpc>
                <a:spcPts val="2250"/>
              </a:lnSpc>
              <a:buNone/>
            </a:pPr>
            <a:r>
              <a:rPr lang="en-US" sz="1800" dirty="0">
                <a:solidFill>
                  <a:srgbClr val="D4D4D1"/>
                </a:solidFill>
                <a:latin typeface="IBM Plex Sans Medium" pitchFamily="34" charset="0"/>
                <a:ea typeface="IBM Plex Sans Medium" pitchFamily="34" charset="-122"/>
                <a:cs typeface="IBM Plex Sans Medium" pitchFamily="34" charset="-120"/>
              </a:rPr>
              <a:t>Edge Sensors</a:t>
            </a:r>
            <a:endParaRPr lang="en-US" sz="18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8704" y="3789174"/>
            <a:ext cx="511387" cy="511387"/>
          </a:xfrm>
          <a:prstGeom prst="rect">
            <a:avLst/>
          </a:prstGeom>
        </p:spPr>
      </p:pic>
      <p:sp>
        <p:nvSpPr>
          <p:cNvPr id="9" name="Text 5"/>
          <p:cNvSpPr/>
          <p:nvPr/>
        </p:nvSpPr>
        <p:spPr>
          <a:xfrm>
            <a:off x="2326644" y="2889612"/>
            <a:ext cx="2229649" cy="287655"/>
          </a:xfrm>
          <a:prstGeom prst="rect">
            <a:avLst/>
          </a:prstGeom>
          <a:noFill/>
          <a:ln/>
        </p:spPr>
        <p:txBody>
          <a:bodyPr wrap="none" lIns="0" tIns="0" rIns="0" bIns="0" rtlCol="0" anchor="t"/>
          <a:lstStyle/>
          <a:p>
            <a:pPr marL="0" indent="0" algn="ctr">
              <a:lnSpc>
                <a:spcPts val="2250"/>
              </a:lnSpc>
              <a:buNone/>
            </a:pPr>
            <a:r>
              <a:rPr lang="en-US" sz="1800" dirty="0">
                <a:solidFill>
                  <a:srgbClr val="D4D4D1"/>
                </a:solidFill>
                <a:latin typeface="IBM Plex Sans Medium" pitchFamily="34" charset="0"/>
                <a:ea typeface="IBM Plex Sans Medium" pitchFamily="34" charset="-122"/>
                <a:cs typeface="IBM Plex Sans Medium" pitchFamily="34" charset="-120"/>
              </a:rPr>
              <a:t>Fog Node</a:t>
            </a:r>
            <a:endParaRPr lang="en-US" sz="18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25167" y="4100961"/>
            <a:ext cx="511387" cy="511387"/>
          </a:xfrm>
          <a:prstGeom prst="rect">
            <a:avLst/>
          </a:prstGeom>
        </p:spPr>
      </p:pic>
      <p:sp>
        <p:nvSpPr>
          <p:cNvPr id="11" name="Text 6"/>
          <p:cNvSpPr/>
          <p:nvPr/>
        </p:nvSpPr>
        <p:spPr>
          <a:xfrm>
            <a:off x="3823411" y="5846230"/>
            <a:ext cx="2159492" cy="287655"/>
          </a:xfrm>
          <a:prstGeom prst="rect">
            <a:avLst/>
          </a:prstGeom>
          <a:noFill/>
          <a:ln/>
        </p:spPr>
        <p:txBody>
          <a:bodyPr wrap="none" lIns="0" tIns="0" rIns="0" bIns="0" rtlCol="0" anchor="t"/>
          <a:lstStyle/>
          <a:p>
            <a:pPr marL="0" indent="0" algn="ctr">
              <a:lnSpc>
                <a:spcPts val="2250"/>
              </a:lnSpc>
              <a:buNone/>
            </a:pPr>
            <a:r>
              <a:rPr lang="en-US" sz="1800" dirty="0">
                <a:solidFill>
                  <a:srgbClr val="D4D4D1"/>
                </a:solidFill>
                <a:latin typeface="IBM Plex Sans Medium" pitchFamily="34" charset="0"/>
                <a:ea typeface="IBM Plex Sans Medium" pitchFamily="34" charset="-122"/>
                <a:cs typeface="IBM Plex Sans Medium" pitchFamily="34" charset="-120"/>
              </a:rPr>
              <a:t>Cloud Backend</a:t>
            </a:r>
            <a:endParaRPr lang="en-US" sz="18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41790" y="4412747"/>
            <a:ext cx="511387" cy="511387"/>
          </a:xfrm>
          <a:prstGeom prst="rect">
            <a:avLst/>
          </a:prstGeom>
        </p:spPr>
      </p:pic>
      <p:sp>
        <p:nvSpPr>
          <p:cNvPr id="13" name="Text 7"/>
          <p:cNvSpPr/>
          <p:nvPr/>
        </p:nvSpPr>
        <p:spPr>
          <a:xfrm>
            <a:off x="5740314" y="3491611"/>
            <a:ext cx="2159493" cy="287655"/>
          </a:xfrm>
          <a:prstGeom prst="rect">
            <a:avLst/>
          </a:prstGeom>
          <a:noFill/>
          <a:ln/>
        </p:spPr>
        <p:txBody>
          <a:bodyPr wrap="none" lIns="0" tIns="0" rIns="0" bIns="0" rtlCol="0" anchor="t"/>
          <a:lstStyle/>
          <a:p>
            <a:pPr marL="0" indent="0" algn="ctr">
              <a:lnSpc>
                <a:spcPts val="2250"/>
              </a:lnSpc>
              <a:buNone/>
            </a:pPr>
            <a:r>
              <a:rPr lang="en-US" sz="1800" dirty="0">
                <a:solidFill>
                  <a:srgbClr val="D4D4D1"/>
                </a:solidFill>
                <a:latin typeface="IBM Plex Sans Medium" pitchFamily="34" charset="0"/>
                <a:ea typeface="IBM Plex Sans Medium" pitchFamily="34" charset="-122"/>
                <a:cs typeface="IBM Plex Sans Medium" pitchFamily="34" charset="-120"/>
              </a:rPr>
              <a:t>Dashboard</a:t>
            </a:r>
            <a:endParaRPr lang="en-US" sz="180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62289" y="4747546"/>
            <a:ext cx="511387" cy="511387"/>
          </a:xfrm>
          <a:prstGeom prst="rect">
            <a:avLst/>
          </a:prstGeom>
        </p:spPr>
      </p:pic>
      <p:sp>
        <p:nvSpPr>
          <p:cNvPr id="15" name="Text 8"/>
          <p:cNvSpPr/>
          <p:nvPr/>
        </p:nvSpPr>
        <p:spPr>
          <a:xfrm>
            <a:off x="4402455" y="6965909"/>
            <a:ext cx="10227945" cy="391954"/>
          </a:xfrm>
          <a:prstGeom prst="rect">
            <a:avLst/>
          </a:prstGeom>
          <a:noFill/>
          <a:ln/>
        </p:spPr>
        <p:txBody>
          <a:bodyPr wrap="square" lIns="0" tIns="0" rIns="0" bIns="0" rtlCol="0" anchor="t"/>
          <a:lstStyle/>
          <a:p>
            <a:pPr marL="0" indent="0" algn="l">
              <a:buNone/>
            </a:pPr>
            <a:r>
              <a:rPr lang="en-US" sz="2000" dirty="0">
                <a:solidFill>
                  <a:srgbClr val="D4D4D1"/>
                </a:solidFill>
                <a:latin typeface="Roboto" pitchFamily="34" charset="0"/>
                <a:ea typeface="Roboto" pitchFamily="34" charset="-122"/>
                <a:cs typeface="Roboto" pitchFamily="34" charset="-120"/>
              </a:rPr>
              <a:t>The fog node acts as a resilience buffer if cloud connectivity is lost, it continues to store and validate data locally, ensuring no readings are dropped during transient outages.</a:t>
            </a:r>
            <a:endParaRPr lang="en-US" sz="2000" dirty="0"/>
          </a:p>
        </p:txBody>
      </p:sp>
      <p:pic>
        <p:nvPicPr>
          <p:cNvPr id="17" name="Picture 16">
            <a:extLst>
              <a:ext uri="{FF2B5EF4-FFF2-40B4-BE49-F238E27FC236}">
                <a16:creationId xmlns:a16="http://schemas.microsoft.com/office/drawing/2014/main" id="{2CF12788-2592-2B42-6E0E-CACCADA9B16A}"/>
              </a:ext>
            </a:extLst>
          </p:cNvPr>
          <p:cNvPicPr>
            <a:picLocks noChangeAspect="1"/>
          </p:cNvPicPr>
          <p:nvPr/>
        </p:nvPicPr>
        <p:blipFill>
          <a:blip r:embed="rId8"/>
          <a:stretch>
            <a:fillRect/>
          </a:stretch>
        </p:blipFill>
        <p:spPr>
          <a:xfrm>
            <a:off x="8091218" y="2271713"/>
            <a:ext cx="6477561" cy="4429125"/>
          </a:xfrm>
          <a:prstGeom prst="rect">
            <a:avLst/>
          </a:prstGeom>
        </p:spPr>
      </p:pic>
      <p:sp>
        <p:nvSpPr>
          <p:cNvPr id="18" name="Text 5">
            <a:extLst>
              <a:ext uri="{FF2B5EF4-FFF2-40B4-BE49-F238E27FC236}">
                <a16:creationId xmlns:a16="http://schemas.microsoft.com/office/drawing/2014/main" id="{7B702C2D-E64F-1A70-852E-C387338632D4}"/>
              </a:ext>
            </a:extLst>
          </p:cNvPr>
          <p:cNvSpPr/>
          <p:nvPr/>
        </p:nvSpPr>
        <p:spPr>
          <a:xfrm>
            <a:off x="288487" y="7781866"/>
            <a:ext cx="14280292" cy="382979"/>
          </a:xfrm>
          <a:prstGeom prst="rect">
            <a:avLst/>
          </a:prstGeom>
          <a:noFill/>
          <a:ln/>
        </p:spPr>
        <p:txBody>
          <a:bodyPr wrap="none" lIns="0" tIns="0" rIns="0" bIns="0" rtlCol="0" anchor="t"/>
          <a:lstStyle/>
          <a:p>
            <a:pPr algn="ctr">
              <a:lnSpc>
                <a:spcPts val="2250"/>
              </a:lnSpc>
            </a:pPr>
            <a:r>
              <a:rPr lang="en-US" sz="4400" dirty="0">
                <a:solidFill>
                  <a:srgbClr val="00B0F0"/>
                </a:solidFill>
              </a:rPr>
              <a:t>Application Link: </a:t>
            </a:r>
            <a:r>
              <a:rPr lang="en-US" sz="4400" dirty="0">
                <a:solidFill>
                  <a:srgbClr val="00B0F0"/>
                </a:solidFill>
                <a:hlinkClick r:id="rId9"/>
              </a:rPr>
              <a:t>https://main.dx55a7yx23a8.amplifyapp.com/</a:t>
            </a:r>
            <a:endParaRPr lang="en-US" sz="4400" dirty="0">
              <a:solidFill>
                <a:srgbClr val="00B0F0"/>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4706" y="528697"/>
            <a:ext cx="8022073" cy="545723"/>
          </a:xfrm>
          <a:prstGeom prst="rect">
            <a:avLst/>
          </a:prstGeom>
          <a:noFill/>
          <a:ln/>
        </p:spPr>
        <p:txBody>
          <a:bodyPr wrap="none" lIns="0" tIns="0" rIns="0" bIns="0" rtlCol="0" anchor="t"/>
          <a:lstStyle/>
          <a:p>
            <a:pPr marL="0" indent="0" algn="l">
              <a:lnSpc>
                <a:spcPts val="3350"/>
              </a:lnSpc>
              <a:buNone/>
            </a:pPr>
            <a:r>
              <a:rPr lang="en-US" sz="3600" dirty="0">
                <a:solidFill>
                  <a:srgbClr val="F3F3F2"/>
                </a:solidFill>
                <a:latin typeface="IBM Plex Sans Medium" pitchFamily="34" charset="0"/>
                <a:ea typeface="IBM Plex Sans Medium" pitchFamily="34" charset="-122"/>
                <a:cs typeface="IBM Plex Sans Medium" pitchFamily="34" charset="-120"/>
              </a:rPr>
              <a:t>Sensor Suite Real World DC Hardware</a:t>
            </a:r>
            <a:endParaRPr lang="en-US" sz="3600" dirty="0"/>
          </a:p>
        </p:txBody>
      </p:sp>
      <p:sp>
        <p:nvSpPr>
          <p:cNvPr id="3" name="Text 1"/>
          <p:cNvSpPr/>
          <p:nvPr/>
        </p:nvSpPr>
        <p:spPr>
          <a:xfrm>
            <a:off x="225585" y="1255692"/>
            <a:ext cx="9712929" cy="177046"/>
          </a:xfrm>
          <a:prstGeom prst="rect">
            <a:avLst/>
          </a:prstGeom>
          <a:noFill/>
          <a:ln/>
        </p:spPr>
        <p:txBody>
          <a:bodyPr wrap="none" lIns="0" tIns="0" rIns="0" bIns="0" rtlCol="0" anchor="t"/>
          <a:lstStyle/>
          <a:p>
            <a:pPr marL="0" indent="0" algn="l">
              <a:lnSpc>
                <a:spcPts val="1350"/>
              </a:lnSpc>
              <a:buNone/>
            </a:pPr>
            <a:r>
              <a:rPr lang="en-US" dirty="0">
                <a:solidFill>
                  <a:srgbClr val="D4D4D1"/>
                </a:solidFill>
                <a:latin typeface="Roboto" pitchFamily="34" charset="0"/>
                <a:ea typeface="Roboto" pitchFamily="34" charset="-122"/>
                <a:cs typeface="Roboto" pitchFamily="34" charset="-120"/>
              </a:rPr>
              <a:t>ThermoSentinel uses industry-grade sensors that mirror actual data center deployments, covering all five critical environmental dimensions.</a:t>
            </a:r>
            <a:endParaRPr lang="en-US" dirty="0"/>
          </a:p>
        </p:txBody>
      </p:sp>
      <p:pic>
        <p:nvPicPr>
          <p:cNvPr id="4" name="Image 0" descr="preencoded.png"/>
          <p:cNvPicPr>
            <a:picLocks noChangeAspect="1"/>
          </p:cNvPicPr>
          <p:nvPr/>
        </p:nvPicPr>
        <p:blipFill>
          <a:blip r:embed="rId3"/>
          <a:stretch>
            <a:fillRect/>
          </a:stretch>
        </p:blipFill>
        <p:spPr>
          <a:xfrm>
            <a:off x="2333035" y="1550258"/>
            <a:ext cx="2279804" cy="2279804"/>
          </a:xfrm>
          <a:prstGeom prst="rect">
            <a:avLst/>
          </a:prstGeom>
        </p:spPr>
      </p:pic>
      <p:sp>
        <p:nvSpPr>
          <p:cNvPr id="5" name="Text 2"/>
          <p:cNvSpPr/>
          <p:nvPr/>
        </p:nvSpPr>
        <p:spPr>
          <a:xfrm>
            <a:off x="2598799" y="3934480"/>
            <a:ext cx="1759603" cy="215146"/>
          </a:xfrm>
          <a:prstGeom prst="rect">
            <a:avLst/>
          </a:prstGeom>
          <a:noFill/>
          <a:ln/>
        </p:spPr>
        <p:txBody>
          <a:bodyPr wrap="none" lIns="0" tIns="0" rIns="0" bIns="0" rtlCol="0" anchor="t"/>
          <a:lstStyle/>
          <a:p>
            <a:pPr marL="0" indent="0" algn="ctr">
              <a:lnSpc>
                <a:spcPts val="1650"/>
              </a:lnSpc>
              <a:buNone/>
            </a:pPr>
            <a:r>
              <a:rPr lang="en-US" sz="1600" dirty="0">
                <a:solidFill>
                  <a:srgbClr val="D4D4D1"/>
                </a:solidFill>
                <a:latin typeface="IBM Plex Sans Medium" pitchFamily="34" charset="0"/>
                <a:ea typeface="IBM Plex Sans Medium" pitchFamily="34" charset="-122"/>
                <a:cs typeface="IBM Plex Sans Medium" pitchFamily="34" charset="-120"/>
              </a:rPr>
              <a:t>Temperature</a:t>
            </a:r>
            <a:endParaRPr lang="en-US" sz="1600" dirty="0"/>
          </a:p>
        </p:txBody>
      </p:sp>
      <p:sp>
        <p:nvSpPr>
          <p:cNvPr id="6" name="Text 3"/>
          <p:cNvSpPr/>
          <p:nvPr/>
        </p:nvSpPr>
        <p:spPr>
          <a:xfrm>
            <a:off x="1880102" y="4199751"/>
            <a:ext cx="3166481" cy="354092"/>
          </a:xfrm>
          <a:prstGeom prst="rect">
            <a:avLst/>
          </a:prstGeom>
          <a:noFill/>
          <a:ln/>
        </p:spPr>
        <p:txBody>
          <a:bodyPr wrap="square" lIns="0" tIns="0" rIns="0" bIns="0" rtlCol="0" anchor="t"/>
          <a:lstStyle/>
          <a:p>
            <a:pPr marL="0" indent="0" algn="ctr">
              <a:lnSpc>
                <a:spcPts val="1350"/>
              </a:lnSpc>
              <a:buNone/>
            </a:pPr>
            <a:r>
              <a:rPr lang="en-US" sz="1200" b="1" dirty="0">
                <a:solidFill>
                  <a:srgbClr val="D4D4D1"/>
                </a:solidFill>
                <a:latin typeface="Roboto" pitchFamily="34" charset="0"/>
                <a:ea typeface="Roboto" pitchFamily="34" charset="-122"/>
                <a:cs typeface="Roboto" pitchFamily="34" charset="-120"/>
              </a:rPr>
              <a:t>DS18B20</a:t>
            </a:r>
            <a:r>
              <a:rPr lang="en-US" sz="1200" dirty="0">
                <a:solidFill>
                  <a:srgbClr val="D4D4D1"/>
                </a:solidFill>
                <a:latin typeface="Roboto" pitchFamily="34" charset="0"/>
                <a:ea typeface="Roboto" pitchFamily="34" charset="-122"/>
                <a:cs typeface="Roboto" pitchFamily="34" charset="-120"/>
              </a:rPr>
              <a:t> Waterproof Probe precise 1Wire digital readings per rack unit.</a:t>
            </a:r>
            <a:endParaRPr lang="en-US" sz="1200" dirty="0"/>
          </a:p>
        </p:txBody>
      </p:sp>
      <p:pic>
        <p:nvPicPr>
          <p:cNvPr id="7" name="Image 1" descr="preencoded.png"/>
          <p:cNvPicPr>
            <a:picLocks noChangeAspect="1"/>
          </p:cNvPicPr>
          <p:nvPr/>
        </p:nvPicPr>
        <p:blipFill>
          <a:blip r:embed="rId4"/>
          <a:stretch>
            <a:fillRect/>
          </a:stretch>
        </p:blipFill>
        <p:spPr>
          <a:xfrm>
            <a:off x="5534983" y="1550258"/>
            <a:ext cx="2279804" cy="2279804"/>
          </a:xfrm>
          <a:prstGeom prst="rect">
            <a:avLst/>
          </a:prstGeom>
        </p:spPr>
      </p:pic>
      <p:sp>
        <p:nvSpPr>
          <p:cNvPr id="8" name="Text 4"/>
          <p:cNvSpPr/>
          <p:nvPr/>
        </p:nvSpPr>
        <p:spPr>
          <a:xfrm>
            <a:off x="5800747" y="3934480"/>
            <a:ext cx="1759603" cy="215146"/>
          </a:xfrm>
          <a:prstGeom prst="rect">
            <a:avLst/>
          </a:prstGeom>
          <a:noFill/>
          <a:ln/>
        </p:spPr>
        <p:txBody>
          <a:bodyPr wrap="none" lIns="0" tIns="0" rIns="0" bIns="0" rtlCol="0" anchor="t"/>
          <a:lstStyle/>
          <a:p>
            <a:pPr marL="0" indent="0" algn="ctr">
              <a:lnSpc>
                <a:spcPts val="1650"/>
              </a:lnSpc>
              <a:buNone/>
            </a:pPr>
            <a:r>
              <a:rPr lang="en-US" sz="1600" dirty="0">
                <a:solidFill>
                  <a:srgbClr val="D4D4D1"/>
                </a:solidFill>
                <a:latin typeface="IBM Plex Sans Medium" pitchFamily="34" charset="0"/>
                <a:ea typeface="IBM Plex Sans Medium" pitchFamily="34" charset="-122"/>
                <a:cs typeface="IBM Plex Sans Medium" pitchFamily="34" charset="-120"/>
              </a:rPr>
              <a:t>Humidity</a:t>
            </a:r>
            <a:endParaRPr lang="en-US" sz="1600" dirty="0"/>
          </a:p>
        </p:txBody>
      </p:sp>
      <p:sp>
        <p:nvSpPr>
          <p:cNvPr id="9" name="Text 5"/>
          <p:cNvSpPr/>
          <p:nvPr/>
        </p:nvSpPr>
        <p:spPr>
          <a:xfrm>
            <a:off x="5082050" y="4199751"/>
            <a:ext cx="3166481" cy="354092"/>
          </a:xfrm>
          <a:prstGeom prst="rect">
            <a:avLst/>
          </a:prstGeom>
          <a:noFill/>
          <a:ln/>
        </p:spPr>
        <p:txBody>
          <a:bodyPr wrap="square" lIns="0" tIns="0" rIns="0" bIns="0" rtlCol="0" anchor="t"/>
          <a:lstStyle/>
          <a:p>
            <a:pPr marL="0" indent="0" algn="ctr">
              <a:lnSpc>
                <a:spcPts val="1350"/>
              </a:lnSpc>
              <a:buNone/>
            </a:pPr>
            <a:r>
              <a:rPr lang="en-US" sz="1200" b="1" dirty="0">
                <a:solidFill>
                  <a:srgbClr val="D4D4D1"/>
                </a:solidFill>
                <a:latin typeface="Roboto" pitchFamily="34" charset="0"/>
                <a:ea typeface="Roboto" pitchFamily="34" charset="-122"/>
                <a:cs typeface="Roboto" pitchFamily="34" charset="-120"/>
              </a:rPr>
              <a:t>ENS210</a:t>
            </a:r>
            <a:r>
              <a:rPr lang="en-US" sz="1200" dirty="0">
                <a:solidFill>
                  <a:srgbClr val="D4D4D1"/>
                </a:solidFill>
                <a:latin typeface="Roboto" pitchFamily="34" charset="0"/>
                <a:ea typeface="Roboto" pitchFamily="34" charset="-122"/>
                <a:cs typeface="Roboto" pitchFamily="34" charset="-120"/>
              </a:rPr>
              <a:t> Wireless Humidity Sensor relative humidity with ±3.5% RH accuracy.</a:t>
            </a:r>
            <a:endParaRPr lang="en-US" sz="1200" dirty="0"/>
          </a:p>
        </p:txBody>
      </p:sp>
      <p:pic>
        <p:nvPicPr>
          <p:cNvPr id="10" name="Image 2" descr="preencoded.png"/>
          <p:cNvPicPr>
            <a:picLocks noChangeAspect="1"/>
          </p:cNvPicPr>
          <p:nvPr/>
        </p:nvPicPr>
        <p:blipFill>
          <a:blip r:embed="rId5"/>
          <a:stretch>
            <a:fillRect/>
          </a:stretch>
        </p:blipFill>
        <p:spPr>
          <a:xfrm>
            <a:off x="8736930" y="1550258"/>
            <a:ext cx="2279804" cy="2279804"/>
          </a:xfrm>
          <a:prstGeom prst="rect">
            <a:avLst/>
          </a:prstGeom>
        </p:spPr>
      </p:pic>
      <p:sp>
        <p:nvSpPr>
          <p:cNvPr id="11" name="Text 6"/>
          <p:cNvSpPr/>
          <p:nvPr/>
        </p:nvSpPr>
        <p:spPr>
          <a:xfrm>
            <a:off x="9002695" y="3934480"/>
            <a:ext cx="1759603" cy="215146"/>
          </a:xfrm>
          <a:prstGeom prst="rect">
            <a:avLst/>
          </a:prstGeom>
          <a:noFill/>
          <a:ln/>
        </p:spPr>
        <p:txBody>
          <a:bodyPr wrap="none" lIns="0" tIns="0" rIns="0" bIns="0" rtlCol="0" anchor="t"/>
          <a:lstStyle/>
          <a:p>
            <a:pPr marL="0" indent="0" algn="ctr">
              <a:lnSpc>
                <a:spcPts val="1650"/>
              </a:lnSpc>
              <a:buNone/>
            </a:pPr>
            <a:r>
              <a:rPr lang="en-US" sz="1600" dirty="0">
                <a:solidFill>
                  <a:srgbClr val="D4D4D1"/>
                </a:solidFill>
                <a:latin typeface="IBM Plex Sans Medium" pitchFamily="34" charset="0"/>
                <a:ea typeface="IBM Plex Sans Medium" pitchFamily="34" charset="-122"/>
                <a:cs typeface="IBM Plex Sans Medium" pitchFamily="34" charset="-120"/>
              </a:rPr>
              <a:t>Pressure</a:t>
            </a:r>
            <a:endParaRPr lang="en-US" sz="1600" dirty="0"/>
          </a:p>
        </p:txBody>
      </p:sp>
      <p:sp>
        <p:nvSpPr>
          <p:cNvPr id="12" name="Text 7"/>
          <p:cNvSpPr/>
          <p:nvPr/>
        </p:nvSpPr>
        <p:spPr>
          <a:xfrm>
            <a:off x="8283998" y="4199751"/>
            <a:ext cx="3166481" cy="354092"/>
          </a:xfrm>
          <a:prstGeom prst="rect">
            <a:avLst/>
          </a:prstGeom>
          <a:noFill/>
          <a:ln/>
        </p:spPr>
        <p:txBody>
          <a:bodyPr wrap="square" lIns="0" tIns="0" rIns="0" bIns="0" rtlCol="0" anchor="t"/>
          <a:lstStyle/>
          <a:p>
            <a:pPr marL="0" indent="0" algn="ctr">
              <a:lnSpc>
                <a:spcPts val="1350"/>
              </a:lnSpc>
              <a:buNone/>
            </a:pPr>
            <a:r>
              <a:rPr lang="en-US" sz="1200" b="1" dirty="0" err="1">
                <a:solidFill>
                  <a:srgbClr val="D4D4D1"/>
                </a:solidFill>
                <a:latin typeface="Roboto" pitchFamily="34" charset="0"/>
                <a:ea typeface="Roboto" pitchFamily="34" charset="-122"/>
                <a:cs typeface="Roboto" pitchFamily="34" charset="-120"/>
              </a:rPr>
              <a:t>Sensirion</a:t>
            </a:r>
            <a:r>
              <a:rPr lang="en-US" sz="1200" b="1" dirty="0">
                <a:solidFill>
                  <a:srgbClr val="D4D4D1"/>
                </a:solidFill>
                <a:latin typeface="Roboto" pitchFamily="34" charset="0"/>
                <a:ea typeface="Roboto" pitchFamily="34" charset="-122"/>
                <a:cs typeface="Roboto" pitchFamily="34" charset="-120"/>
              </a:rPr>
              <a:t> SDP810-500PA</a:t>
            </a:r>
            <a:r>
              <a:rPr lang="en-US" sz="1200" dirty="0">
                <a:solidFill>
                  <a:srgbClr val="D4D4D1"/>
                </a:solidFill>
                <a:latin typeface="Roboto" pitchFamily="34" charset="0"/>
                <a:ea typeface="Roboto" pitchFamily="34" charset="-122"/>
                <a:cs typeface="Roboto" pitchFamily="34" charset="-120"/>
              </a:rPr>
              <a:t> differential pressure monitoring for airflow containment.</a:t>
            </a:r>
            <a:endParaRPr lang="en-US" sz="1200" dirty="0"/>
          </a:p>
        </p:txBody>
      </p:sp>
      <p:pic>
        <p:nvPicPr>
          <p:cNvPr id="13" name="Image 3" descr="preencoded.png"/>
          <p:cNvPicPr>
            <a:picLocks noChangeAspect="1"/>
          </p:cNvPicPr>
          <p:nvPr/>
        </p:nvPicPr>
        <p:blipFill>
          <a:blip r:embed="rId6"/>
          <a:stretch>
            <a:fillRect/>
          </a:stretch>
        </p:blipFill>
        <p:spPr>
          <a:xfrm>
            <a:off x="3933949" y="4671363"/>
            <a:ext cx="2279804" cy="2279804"/>
          </a:xfrm>
          <a:prstGeom prst="rect">
            <a:avLst/>
          </a:prstGeom>
        </p:spPr>
      </p:pic>
      <p:sp>
        <p:nvSpPr>
          <p:cNvPr id="14" name="Text 8"/>
          <p:cNvSpPr/>
          <p:nvPr/>
        </p:nvSpPr>
        <p:spPr>
          <a:xfrm>
            <a:off x="4199714" y="7055584"/>
            <a:ext cx="1759603" cy="215146"/>
          </a:xfrm>
          <a:prstGeom prst="rect">
            <a:avLst/>
          </a:prstGeom>
          <a:noFill/>
          <a:ln/>
        </p:spPr>
        <p:txBody>
          <a:bodyPr wrap="none" lIns="0" tIns="0" rIns="0" bIns="0" rtlCol="0" anchor="t"/>
          <a:lstStyle/>
          <a:p>
            <a:pPr marL="0" indent="0" algn="ctr">
              <a:lnSpc>
                <a:spcPts val="1650"/>
              </a:lnSpc>
              <a:buNone/>
            </a:pPr>
            <a:r>
              <a:rPr lang="en-US" sz="1600" dirty="0">
                <a:solidFill>
                  <a:srgbClr val="D4D4D1"/>
                </a:solidFill>
                <a:latin typeface="IBM Plex Sans Medium" pitchFamily="34" charset="0"/>
                <a:ea typeface="IBM Plex Sans Medium" pitchFamily="34" charset="-122"/>
                <a:cs typeface="IBM Plex Sans Medium" pitchFamily="34" charset="-120"/>
              </a:rPr>
              <a:t>Airflow</a:t>
            </a:r>
            <a:endParaRPr lang="en-US" sz="1600" dirty="0"/>
          </a:p>
        </p:txBody>
      </p:sp>
      <p:sp>
        <p:nvSpPr>
          <p:cNvPr id="15" name="Text 9"/>
          <p:cNvSpPr/>
          <p:nvPr/>
        </p:nvSpPr>
        <p:spPr>
          <a:xfrm>
            <a:off x="3481017" y="7320855"/>
            <a:ext cx="3166481" cy="354092"/>
          </a:xfrm>
          <a:prstGeom prst="rect">
            <a:avLst/>
          </a:prstGeom>
          <a:noFill/>
          <a:ln/>
        </p:spPr>
        <p:txBody>
          <a:bodyPr wrap="square" lIns="0" tIns="0" rIns="0" bIns="0" rtlCol="0" anchor="t"/>
          <a:lstStyle/>
          <a:p>
            <a:pPr marL="0" indent="0" algn="ctr">
              <a:lnSpc>
                <a:spcPts val="1350"/>
              </a:lnSpc>
              <a:buNone/>
            </a:pPr>
            <a:r>
              <a:rPr lang="en-US" sz="1200" b="1" dirty="0">
                <a:solidFill>
                  <a:srgbClr val="D4D4D1"/>
                </a:solidFill>
                <a:latin typeface="Roboto" pitchFamily="34" charset="0"/>
                <a:ea typeface="Roboto" pitchFamily="34" charset="-122"/>
                <a:cs typeface="Roboto" pitchFamily="34" charset="-120"/>
              </a:rPr>
              <a:t>SFM3400-33-D</a:t>
            </a:r>
            <a:r>
              <a:rPr lang="en-US" sz="1200" dirty="0">
                <a:solidFill>
                  <a:srgbClr val="D4D4D1"/>
                </a:solidFill>
                <a:latin typeface="Roboto" pitchFamily="34" charset="0"/>
                <a:ea typeface="Roboto" pitchFamily="34" charset="-122"/>
                <a:cs typeface="Roboto" pitchFamily="34" charset="-120"/>
              </a:rPr>
              <a:t> Flow Sensor volumetric air measurement at rack exhaust points.</a:t>
            </a:r>
            <a:endParaRPr lang="en-US" sz="1200" dirty="0"/>
          </a:p>
        </p:txBody>
      </p:sp>
      <p:pic>
        <p:nvPicPr>
          <p:cNvPr id="16" name="Image 4" descr="preencoded.png"/>
          <p:cNvPicPr>
            <a:picLocks noChangeAspect="1"/>
          </p:cNvPicPr>
          <p:nvPr/>
        </p:nvPicPr>
        <p:blipFill>
          <a:blip r:embed="rId7"/>
          <a:stretch>
            <a:fillRect/>
          </a:stretch>
        </p:blipFill>
        <p:spPr>
          <a:xfrm>
            <a:off x="7135897" y="4671363"/>
            <a:ext cx="2279804" cy="2279804"/>
          </a:xfrm>
          <a:prstGeom prst="rect">
            <a:avLst/>
          </a:prstGeom>
        </p:spPr>
      </p:pic>
      <p:sp>
        <p:nvSpPr>
          <p:cNvPr id="17" name="Text 10"/>
          <p:cNvSpPr/>
          <p:nvPr/>
        </p:nvSpPr>
        <p:spPr>
          <a:xfrm>
            <a:off x="7401662" y="7055584"/>
            <a:ext cx="1759603" cy="215146"/>
          </a:xfrm>
          <a:prstGeom prst="rect">
            <a:avLst/>
          </a:prstGeom>
          <a:noFill/>
          <a:ln/>
        </p:spPr>
        <p:txBody>
          <a:bodyPr wrap="none" lIns="0" tIns="0" rIns="0" bIns="0" rtlCol="0" anchor="t"/>
          <a:lstStyle/>
          <a:p>
            <a:pPr marL="0" indent="0" algn="ctr">
              <a:lnSpc>
                <a:spcPts val="1650"/>
              </a:lnSpc>
              <a:buNone/>
            </a:pPr>
            <a:r>
              <a:rPr lang="en-US" sz="1600" dirty="0">
                <a:solidFill>
                  <a:srgbClr val="D4D4D1"/>
                </a:solidFill>
                <a:latin typeface="IBM Plex Sans Medium" pitchFamily="34" charset="0"/>
                <a:ea typeface="IBM Plex Sans Medium" pitchFamily="34" charset="-122"/>
                <a:cs typeface="IBM Plex Sans Medium" pitchFamily="34" charset="-120"/>
              </a:rPr>
              <a:t>Smoke / Fire</a:t>
            </a:r>
            <a:endParaRPr lang="en-US" sz="1600" dirty="0"/>
          </a:p>
        </p:txBody>
      </p:sp>
      <p:sp>
        <p:nvSpPr>
          <p:cNvPr id="18" name="Text 11"/>
          <p:cNvSpPr/>
          <p:nvPr/>
        </p:nvSpPr>
        <p:spPr>
          <a:xfrm>
            <a:off x="6682964" y="7320855"/>
            <a:ext cx="3166481" cy="354092"/>
          </a:xfrm>
          <a:prstGeom prst="rect">
            <a:avLst/>
          </a:prstGeom>
          <a:noFill/>
          <a:ln/>
        </p:spPr>
        <p:txBody>
          <a:bodyPr wrap="square" lIns="0" tIns="0" rIns="0" bIns="0" rtlCol="0" anchor="t"/>
          <a:lstStyle/>
          <a:p>
            <a:pPr marL="0" indent="0" algn="ctr">
              <a:lnSpc>
                <a:spcPts val="1350"/>
              </a:lnSpc>
              <a:buNone/>
            </a:pPr>
            <a:r>
              <a:rPr lang="en-US" sz="1200" b="1" dirty="0">
                <a:solidFill>
                  <a:srgbClr val="D4D4D1"/>
                </a:solidFill>
                <a:latin typeface="Roboto" pitchFamily="34" charset="0"/>
                <a:ea typeface="Roboto" pitchFamily="34" charset="-122"/>
                <a:cs typeface="Roboto" pitchFamily="34" charset="-120"/>
              </a:rPr>
              <a:t>TITANUS RACK·SENS</a:t>
            </a:r>
            <a:r>
              <a:rPr lang="en-US" sz="1200" dirty="0">
                <a:solidFill>
                  <a:srgbClr val="D4D4D1"/>
                </a:solidFill>
                <a:latin typeface="Roboto" pitchFamily="34" charset="0"/>
                <a:ea typeface="Roboto" pitchFamily="34" charset="-122"/>
                <a:cs typeface="Roboto" pitchFamily="34" charset="-120"/>
              </a:rPr>
              <a:t> early warning aspirating smoke detection for enclosed racks.</a:t>
            </a:r>
            <a:endParaRPr lang="en-US" sz="1200" dirty="0"/>
          </a:p>
        </p:txBody>
      </p:sp>
      <p:sp>
        <p:nvSpPr>
          <p:cNvPr id="20" name="TextBox 19">
            <a:extLst>
              <a:ext uri="{FF2B5EF4-FFF2-40B4-BE49-F238E27FC236}">
                <a16:creationId xmlns:a16="http://schemas.microsoft.com/office/drawing/2014/main" id="{7CCA8AE5-63FD-E15A-DC6C-0884D2CCC461}"/>
              </a:ext>
            </a:extLst>
          </p:cNvPr>
          <p:cNvSpPr txBox="1"/>
          <p:nvPr/>
        </p:nvSpPr>
        <p:spPr>
          <a:xfrm>
            <a:off x="49469" y="4240917"/>
            <a:ext cx="3431548" cy="4247317"/>
          </a:xfrm>
          <a:prstGeom prst="rect">
            <a:avLst/>
          </a:prstGeom>
          <a:noFill/>
        </p:spPr>
        <p:txBody>
          <a:bodyPr wrap="square">
            <a:spAutoFit/>
          </a:bodyPr>
          <a:lstStyle/>
          <a:p>
            <a:pPr>
              <a:buNone/>
            </a:pPr>
            <a:r>
              <a:rPr lang="en-IN" b="1" dirty="0"/>
              <a:t>🌡️ Temperature</a:t>
            </a:r>
          </a:p>
          <a:p>
            <a:pPr>
              <a:buNone/>
            </a:pPr>
            <a:r>
              <a:rPr lang="en-IN" b="1" dirty="0"/>
              <a:t>18°C – 25°C (Optimal)</a:t>
            </a:r>
            <a:br>
              <a:rPr lang="en-IN" dirty="0"/>
            </a:br>
            <a:r>
              <a:rPr lang="en-IN" dirty="0"/>
              <a:t>⬇️ Low → Condensation risk</a:t>
            </a:r>
            <a:br>
              <a:rPr lang="en-IN" dirty="0"/>
            </a:br>
            <a:r>
              <a:rPr lang="en-IN" dirty="0"/>
              <a:t>⬆️ High → Overheating</a:t>
            </a:r>
          </a:p>
          <a:p>
            <a:pPr>
              <a:buNone/>
            </a:pPr>
            <a:endParaRPr lang="en-IN" dirty="0"/>
          </a:p>
          <a:p>
            <a:r>
              <a:rPr lang="en-US" b="1" dirty="0"/>
              <a:t>💧 Humidity</a:t>
            </a:r>
          </a:p>
          <a:p>
            <a:r>
              <a:rPr lang="en-US" b="1" dirty="0"/>
              <a:t>40% – 60% RH</a:t>
            </a:r>
            <a:br>
              <a:rPr lang="en-US" dirty="0"/>
            </a:br>
            <a:r>
              <a:rPr lang="en-US" dirty="0"/>
              <a:t>⬇️ Low → Static electricity</a:t>
            </a:r>
            <a:br>
              <a:rPr lang="en-US" dirty="0"/>
            </a:br>
            <a:r>
              <a:rPr lang="en-US" dirty="0"/>
              <a:t>⬆️ High → Condensation</a:t>
            </a:r>
          </a:p>
          <a:p>
            <a:pPr>
              <a:buNone/>
            </a:pPr>
            <a:endParaRPr lang="en-IN" dirty="0"/>
          </a:p>
          <a:p>
            <a:r>
              <a:rPr lang="en-US" b="1" dirty="0"/>
              <a:t>🌬️ Airflow</a:t>
            </a:r>
          </a:p>
          <a:p>
            <a:r>
              <a:rPr lang="en-US" b="1" dirty="0"/>
              <a:t>1.0 – 3.0 m/s</a:t>
            </a:r>
            <a:br>
              <a:rPr lang="en-US" dirty="0"/>
            </a:br>
            <a:r>
              <a:rPr lang="en-US" dirty="0"/>
              <a:t>⬇️ Low → Heat buildup</a:t>
            </a:r>
            <a:br>
              <a:rPr lang="en-US" dirty="0"/>
            </a:br>
            <a:r>
              <a:rPr lang="en-US" dirty="0"/>
              <a:t>⬆️ High → Inefficient cooling</a:t>
            </a:r>
          </a:p>
          <a:p>
            <a:pPr>
              <a:buNone/>
            </a:pPr>
            <a:endParaRPr lang="en-IN" dirty="0"/>
          </a:p>
        </p:txBody>
      </p:sp>
      <p:sp>
        <p:nvSpPr>
          <p:cNvPr id="22" name="TextBox 21">
            <a:extLst>
              <a:ext uri="{FF2B5EF4-FFF2-40B4-BE49-F238E27FC236}">
                <a16:creationId xmlns:a16="http://schemas.microsoft.com/office/drawing/2014/main" id="{A24C2C07-3494-03FB-49E0-B2777D6D6311}"/>
              </a:ext>
            </a:extLst>
          </p:cNvPr>
          <p:cNvSpPr txBox="1"/>
          <p:nvPr/>
        </p:nvSpPr>
        <p:spPr>
          <a:xfrm>
            <a:off x="10013762" y="4751903"/>
            <a:ext cx="4259451" cy="2585323"/>
          </a:xfrm>
          <a:prstGeom prst="rect">
            <a:avLst/>
          </a:prstGeom>
          <a:noFill/>
        </p:spPr>
        <p:txBody>
          <a:bodyPr wrap="square">
            <a:spAutoFit/>
          </a:bodyPr>
          <a:lstStyle/>
          <a:p>
            <a:pPr>
              <a:buNone/>
            </a:pPr>
            <a:r>
              <a:rPr lang="en-US" b="1" dirty="0"/>
              <a:t>🔥 Smoke/Fire</a:t>
            </a:r>
          </a:p>
          <a:p>
            <a:pPr>
              <a:buNone/>
            </a:pPr>
            <a:r>
              <a:rPr lang="en-US" b="1" dirty="0"/>
              <a:t>0 (Normal)</a:t>
            </a:r>
            <a:br>
              <a:rPr lang="en-US" dirty="0"/>
            </a:br>
            <a:r>
              <a:rPr lang="en-US" dirty="0"/>
              <a:t>⬆️ Any detection → Fire hazard 🚨</a:t>
            </a:r>
          </a:p>
          <a:p>
            <a:pPr>
              <a:buNone/>
            </a:pPr>
            <a:endParaRPr lang="en-US" dirty="0"/>
          </a:p>
          <a:p>
            <a:r>
              <a:rPr lang="en-IN" b="1" dirty="0"/>
              <a:t>🌪️ Pressure (Differential)</a:t>
            </a:r>
          </a:p>
          <a:p>
            <a:r>
              <a:rPr lang="en-IN" b="1" dirty="0"/>
              <a:t>5 – 20 Pa (Typical)</a:t>
            </a:r>
            <a:br>
              <a:rPr lang="en-IN" dirty="0"/>
            </a:br>
            <a:r>
              <a:rPr lang="en-IN" dirty="0"/>
              <a:t>⬇️ Low → Poor airflow / leakage</a:t>
            </a:r>
            <a:br>
              <a:rPr lang="en-IN" dirty="0"/>
            </a:br>
            <a:r>
              <a:rPr lang="en-IN" dirty="0"/>
              <a:t>⬆️ High → Airflow imbalance</a:t>
            </a:r>
          </a:p>
          <a:p>
            <a:pPr>
              <a:buNone/>
            </a:pPr>
            <a:endParaRPr lang="en-US"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hape 0"/>
          <p:cNvSpPr/>
          <p:nvPr/>
        </p:nvSpPr>
        <p:spPr>
          <a:xfrm>
            <a:off x="9421654" y="2017514"/>
            <a:ext cx="929521" cy="305276"/>
          </a:xfrm>
          <a:prstGeom prst="roundRect">
            <a:avLst>
              <a:gd name="adj" fmla="val 6913"/>
            </a:avLst>
          </a:prstGeom>
          <a:solidFill>
            <a:srgbClr val="4D1F00"/>
          </a:solidFill>
          <a:ln/>
        </p:spPr>
      </p:sp>
      <p:sp>
        <p:nvSpPr>
          <p:cNvPr id="4" name="Text 1"/>
          <p:cNvSpPr/>
          <p:nvPr/>
        </p:nvSpPr>
        <p:spPr>
          <a:xfrm>
            <a:off x="9527143" y="2070259"/>
            <a:ext cx="718542" cy="199787"/>
          </a:xfrm>
          <a:prstGeom prst="rect">
            <a:avLst/>
          </a:prstGeom>
          <a:noFill/>
          <a:ln/>
        </p:spPr>
        <p:txBody>
          <a:bodyPr wrap="none" lIns="0" tIns="0" rIns="0" bIns="0" rtlCol="0" anchor="t"/>
          <a:lstStyle/>
          <a:p>
            <a:pPr marL="0" indent="0" algn="l">
              <a:lnSpc>
                <a:spcPts val="1550"/>
              </a:lnSpc>
              <a:buNone/>
            </a:pPr>
            <a:r>
              <a:rPr lang="en-US" sz="1100" dirty="0">
                <a:solidFill>
                  <a:srgbClr val="D4D4D1"/>
                </a:solidFill>
                <a:latin typeface="Roboto" pitchFamily="34" charset="0"/>
                <a:ea typeface="Roboto" pitchFamily="34" charset="-122"/>
                <a:cs typeface="Roboto" pitchFamily="34" charset="-120"/>
              </a:rPr>
              <a:t>FOG LAYER</a:t>
            </a:r>
            <a:endParaRPr lang="en-US" sz="1100" dirty="0"/>
          </a:p>
        </p:txBody>
      </p:sp>
      <p:sp>
        <p:nvSpPr>
          <p:cNvPr id="5" name="Text 2"/>
          <p:cNvSpPr/>
          <p:nvPr/>
        </p:nvSpPr>
        <p:spPr>
          <a:xfrm>
            <a:off x="9421654" y="2377321"/>
            <a:ext cx="3968234" cy="1099185"/>
          </a:xfrm>
          <a:prstGeom prst="rect">
            <a:avLst/>
          </a:prstGeom>
          <a:noFill/>
          <a:ln/>
        </p:spPr>
        <p:txBody>
          <a:bodyPr wrap="square" lIns="0" tIns="0" rIns="0" bIns="0" rtlCol="0" anchor="t"/>
          <a:lstStyle/>
          <a:p>
            <a:pPr marL="0" indent="0" algn="l">
              <a:lnSpc>
                <a:spcPts val="4300"/>
              </a:lnSpc>
              <a:buNone/>
            </a:pPr>
            <a:r>
              <a:rPr lang="en-US" sz="3450" dirty="0">
                <a:solidFill>
                  <a:srgbClr val="F3F3F2"/>
                </a:solidFill>
                <a:latin typeface="IBM Plex Sans Medium" pitchFamily="34" charset="0"/>
                <a:ea typeface="IBM Plex Sans Medium" pitchFamily="34" charset="-122"/>
                <a:cs typeface="IBM Plex Sans Medium" pitchFamily="34" charset="-120"/>
              </a:rPr>
              <a:t>Fog Node: Local Gateway</a:t>
            </a:r>
            <a:endParaRPr lang="en-US" sz="3450" dirty="0"/>
          </a:p>
        </p:txBody>
      </p:sp>
      <p:sp>
        <p:nvSpPr>
          <p:cNvPr id="6" name="Text 3"/>
          <p:cNvSpPr/>
          <p:nvPr/>
        </p:nvSpPr>
        <p:spPr>
          <a:xfrm>
            <a:off x="9421654" y="3612833"/>
            <a:ext cx="3968234" cy="749022"/>
          </a:xfrm>
          <a:prstGeom prst="rect">
            <a:avLst/>
          </a:prstGeom>
          <a:noFill/>
          <a:ln/>
        </p:spPr>
        <p:txBody>
          <a:bodyPr wrap="square" lIns="0" tIns="0" rIns="0" bIns="0" rtlCol="0" anchor="t"/>
          <a:lstStyle/>
          <a:p>
            <a:pPr marL="0" indent="0" algn="l">
              <a:lnSpc>
                <a:spcPts val="1950"/>
              </a:lnSpc>
              <a:buNone/>
            </a:pPr>
            <a:r>
              <a:rPr lang="en-US" sz="1350" dirty="0">
                <a:solidFill>
                  <a:srgbClr val="D4D4D1"/>
                </a:solidFill>
                <a:latin typeface="Roboto" pitchFamily="34" charset="0"/>
                <a:ea typeface="Roboto" pitchFamily="34" charset="-122"/>
                <a:cs typeface="Roboto" pitchFamily="34" charset="-120"/>
              </a:rPr>
              <a:t>The </a:t>
            </a:r>
            <a:r>
              <a:rPr lang="en-US" sz="1350" b="1" dirty="0">
                <a:solidFill>
                  <a:srgbClr val="D4D4D1"/>
                </a:solidFill>
                <a:latin typeface="Roboto" pitchFamily="34" charset="0"/>
                <a:ea typeface="Roboto" pitchFamily="34" charset="-122"/>
                <a:cs typeface="Roboto" pitchFamily="34" charset="-120"/>
              </a:rPr>
              <a:t>Advantech UNO-1372G</a:t>
            </a:r>
            <a:r>
              <a:rPr lang="en-US" sz="1350" dirty="0">
                <a:solidFill>
                  <a:srgbClr val="D4D4D1"/>
                </a:solidFill>
                <a:latin typeface="Roboto" pitchFamily="34" charset="0"/>
                <a:ea typeface="Roboto" pitchFamily="34" charset="-122"/>
                <a:cs typeface="Roboto" pitchFamily="34" charset="-120"/>
              </a:rPr>
              <a:t> industrial IoT gateway sits between the sensor edge and the cloud, acting as the critical local intelligence layer.</a:t>
            </a:r>
            <a:endParaRPr lang="en-US" sz="1350" dirty="0"/>
          </a:p>
        </p:txBody>
      </p:sp>
      <p:sp>
        <p:nvSpPr>
          <p:cNvPr id="7" name="Text 4"/>
          <p:cNvSpPr/>
          <p:nvPr/>
        </p:nvSpPr>
        <p:spPr>
          <a:xfrm>
            <a:off x="9421654" y="4484489"/>
            <a:ext cx="3968234" cy="499348"/>
          </a:xfrm>
          <a:prstGeom prst="rect">
            <a:avLst/>
          </a:prstGeom>
          <a:noFill/>
          <a:ln/>
        </p:spPr>
        <p:txBody>
          <a:bodyPr wrap="square" lIns="0" tIns="0" rIns="0" bIns="0" rtlCol="0" anchor="t"/>
          <a:lstStyle/>
          <a:p>
            <a:pPr marL="0" indent="0" algn="l">
              <a:lnSpc>
                <a:spcPts val="1950"/>
              </a:lnSpc>
              <a:buNone/>
            </a:pPr>
            <a:r>
              <a:rPr lang="en-US" sz="1350" i="1" dirty="0">
                <a:solidFill>
                  <a:srgbClr val="D4D4D1"/>
                </a:solidFill>
                <a:latin typeface="Roboto" pitchFamily="34" charset="0"/>
                <a:ea typeface="Roboto" pitchFamily="34" charset="-122"/>
                <a:cs typeface="Roboto" pitchFamily="34" charset="-120"/>
              </a:rPr>
              <a:t>Alternative demo hardware: NVIDIA Jetson Orin Nano or Raspberry Pi 5.</a:t>
            </a:r>
            <a:endParaRPr lang="en-US" sz="13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3974" y="6520994"/>
            <a:ext cx="263723" cy="263723"/>
          </a:xfrm>
          <a:prstGeom prst="rect">
            <a:avLst/>
          </a:prstGeom>
        </p:spPr>
      </p:pic>
      <p:sp>
        <p:nvSpPr>
          <p:cNvPr id="9" name="Text 5"/>
          <p:cNvSpPr/>
          <p:nvPr/>
        </p:nvSpPr>
        <p:spPr>
          <a:xfrm>
            <a:off x="1819513" y="6515576"/>
            <a:ext cx="2198251" cy="274677"/>
          </a:xfrm>
          <a:prstGeom prst="rect">
            <a:avLst/>
          </a:prstGeom>
          <a:noFill/>
          <a:ln/>
        </p:spPr>
        <p:txBody>
          <a:bodyPr wrap="none" lIns="0" tIns="0" rIns="0" bIns="0" rtlCol="0" anchor="t"/>
          <a:lstStyle/>
          <a:p>
            <a:pPr marL="0" indent="0" algn="l">
              <a:lnSpc>
                <a:spcPts val="2150"/>
              </a:lnSpc>
              <a:buNone/>
            </a:pPr>
            <a:r>
              <a:rPr lang="en-US" sz="1700" dirty="0">
                <a:solidFill>
                  <a:srgbClr val="D4D4D1"/>
                </a:solidFill>
                <a:latin typeface="IBM Plex Sans Medium" pitchFamily="34" charset="0"/>
                <a:ea typeface="IBM Plex Sans Medium" pitchFamily="34" charset="-122"/>
                <a:cs typeface="IBM Plex Sans Medium" pitchFamily="34" charset="-120"/>
              </a:rPr>
              <a:t>Buffering &amp; Batching</a:t>
            </a:r>
            <a:endParaRPr lang="en-US" sz="1700" dirty="0"/>
          </a:p>
        </p:txBody>
      </p:sp>
      <p:sp>
        <p:nvSpPr>
          <p:cNvPr id="10" name="Text 6"/>
          <p:cNvSpPr/>
          <p:nvPr/>
        </p:nvSpPr>
        <p:spPr>
          <a:xfrm>
            <a:off x="1819513" y="6872049"/>
            <a:ext cx="3359706" cy="499348"/>
          </a:xfrm>
          <a:prstGeom prst="rect">
            <a:avLst/>
          </a:prstGeom>
          <a:noFill/>
          <a:ln/>
        </p:spPr>
        <p:txBody>
          <a:bodyPr wrap="square" lIns="0" tIns="0" rIns="0" bIns="0" rtlCol="0" anchor="t"/>
          <a:lstStyle/>
          <a:p>
            <a:pPr marL="0" indent="0" algn="l">
              <a:lnSpc>
                <a:spcPts val="1950"/>
              </a:lnSpc>
              <a:buNone/>
            </a:pPr>
            <a:r>
              <a:rPr lang="en-US" sz="1350" dirty="0">
                <a:solidFill>
                  <a:srgbClr val="D4D4D1"/>
                </a:solidFill>
                <a:latin typeface="Roboto" pitchFamily="34" charset="0"/>
                <a:ea typeface="Roboto" pitchFamily="34" charset="-122"/>
                <a:cs typeface="Roboto" pitchFamily="34" charset="-120"/>
              </a:rPr>
              <a:t>Aggregates high frequency sensor reads into efficient cloud bound payloads.</a:t>
            </a:r>
            <a:endParaRPr lang="en-US" sz="135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15558" y="6520994"/>
            <a:ext cx="263723" cy="263723"/>
          </a:xfrm>
          <a:prstGeom prst="rect">
            <a:avLst/>
          </a:prstGeom>
        </p:spPr>
      </p:pic>
      <p:sp>
        <p:nvSpPr>
          <p:cNvPr id="12" name="Text 7"/>
          <p:cNvSpPr/>
          <p:nvPr/>
        </p:nvSpPr>
        <p:spPr>
          <a:xfrm>
            <a:off x="5921097" y="6515576"/>
            <a:ext cx="2198251" cy="274677"/>
          </a:xfrm>
          <a:prstGeom prst="rect">
            <a:avLst/>
          </a:prstGeom>
          <a:noFill/>
          <a:ln/>
        </p:spPr>
        <p:txBody>
          <a:bodyPr wrap="none" lIns="0" tIns="0" rIns="0" bIns="0" rtlCol="0" anchor="t"/>
          <a:lstStyle/>
          <a:p>
            <a:pPr marL="0" indent="0" algn="l">
              <a:lnSpc>
                <a:spcPts val="2150"/>
              </a:lnSpc>
              <a:buNone/>
            </a:pPr>
            <a:r>
              <a:rPr lang="en-US" sz="1700" dirty="0">
                <a:solidFill>
                  <a:srgbClr val="D4D4D1"/>
                </a:solidFill>
                <a:latin typeface="IBM Plex Sans Medium" pitchFamily="34" charset="0"/>
                <a:ea typeface="IBM Plex Sans Medium" pitchFamily="34" charset="-122"/>
                <a:cs typeface="IBM Plex Sans Medium" pitchFamily="34" charset="-120"/>
              </a:rPr>
              <a:t>Protocol Translation</a:t>
            </a:r>
            <a:endParaRPr lang="en-US" sz="1700" dirty="0"/>
          </a:p>
        </p:txBody>
      </p:sp>
      <p:sp>
        <p:nvSpPr>
          <p:cNvPr id="13" name="Text 8"/>
          <p:cNvSpPr/>
          <p:nvPr/>
        </p:nvSpPr>
        <p:spPr>
          <a:xfrm>
            <a:off x="5921097" y="6872049"/>
            <a:ext cx="3359706" cy="499348"/>
          </a:xfrm>
          <a:prstGeom prst="rect">
            <a:avLst/>
          </a:prstGeom>
          <a:noFill/>
          <a:ln/>
        </p:spPr>
        <p:txBody>
          <a:bodyPr wrap="square" lIns="0" tIns="0" rIns="0" bIns="0" rtlCol="0" anchor="t"/>
          <a:lstStyle/>
          <a:p>
            <a:pPr marL="0" indent="0" algn="l">
              <a:lnSpc>
                <a:spcPts val="1950"/>
              </a:lnSpc>
              <a:buNone/>
            </a:pPr>
            <a:r>
              <a:rPr lang="en-US" sz="1350" dirty="0">
                <a:solidFill>
                  <a:srgbClr val="D4D4D1"/>
                </a:solidFill>
                <a:latin typeface="Roboto" pitchFamily="34" charset="0"/>
                <a:ea typeface="Roboto" pitchFamily="34" charset="-122"/>
                <a:cs typeface="Roboto" pitchFamily="34" charset="-120"/>
              </a:rPr>
              <a:t>Normalizes MQTT and HTTP inputs into a unified REST API contract.</a:t>
            </a:r>
            <a:endParaRPr lang="en-US" sz="135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17142" y="6520994"/>
            <a:ext cx="263723" cy="263723"/>
          </a:xfrm>
          <a:prstGeom prst="rect">
            <a:avLst/>
          </a:prstGeom>
        </p:spPr>
      </p:pic>
      <p:sp>
        <p:nvSpPr>
          <p:cNvPr id="15" name="Text 9"/>
          <p:cNvSpPr/>
          <p:nvPr/>
        </p:nvSpPr>
        <p:spPr>
          <a:xfrm>
            <a:off x="10022681" y="6515576"/>
            <a:ext cx="2198251" cy="274677"/>
          </a:xfrm>
          <a:prstGeom prst="rect">
            <a:avLst/>
          </a:prstGeom>
          <a:noFill/>
          <a:ln/>
        </p:spPr>
        <p:txBody>
          <a:bodyPr wrap="none" lIns="0" tIns="0" rIns="0" bIns="0" rtlCol="0" anchor="t"/>
          <a:lstStyle/>
          <a:p>
            <a:pPr marL="0" indent="0" algn="l">
              <a:lnSpc>
                <a:spcPts val="2150"/>
              </a:lnSpc>
              <a:buNone/>
            </a:pPr>
            <a:r>
              <a:rPr lang="en-US" sz="1700" dirty="0">
                <a:solidFill>
                  <a:srgbClr val="D4D4D1"/>
                </a:solidFill>
                <a:latin typeface="IBM Plex Sans Medium" pitchFamily="34" charset="0"/>
                <a:ea typeface="IBM Plex Sans Medium" pitchFamily="34" charset="-122"/>
                <a:cs typeface="IBM Plex Sans Medium" pitchFamily="34" charset="-120"/>
              </a:rPr>
              <a:t>Local Filtering</a:t>
            </a:r>
            <a:endParaRPr lang="en-US" sz="1700" dirty="0"/>
          </a:p>
        </p:txBody>
      </p:sp>
      <p:sp>
        <p:nvSpPr>
          <p:cNvPr id="16" name="Text 10"/>
          <p:cNvSpPr/>
          <p:nvPr/>
        </p:nvSpPr>
        <p:spPr>
          <a:xfrm>
            <a:off x="10022681" y="6872049"/>
            <a:ext cx="3359706" cy="749022"/>
          </a:xfrm>
          <a:prstGeom prst="rect">
            <a:avLst/>
          </a:prstGeom>
          <a:noFill/>
          <a:ln/>
        </p:spPr>
        <p:txBody>
          <a:bodyPr wrap="square" lIns="0" tIns="0" rIns="0" bIns="0" rtlCol="0" anchor="t"/>
          <a:lstStyle/>
          <a:p>
            <a:pPr marL="0" indent="0" algn="l">
              <a:lnSpc>
                <a:spcPts val="1950"/>
              </a:lnSpc>
              <a:buNone/>
            </a:pPr>
            <a:r>
              <a:rPr lang="en-US" sz="1350" dirty="0">
                <a:solidFill>
                  <a:srgbClr val="D4D4D1"/>
                </a:solidFill>
                <a:latin typeface="Roboto" pitchFamily="34" charset="0"/>
                <a:ea typeface="Roboto" pitchFamily="34" charset="-122"/>
                <a:cs typeface="Roboto" pitchFamily="34" charset="-120"/>
              </a:rPr>
              <a:t>Discards noise and validates data before transmission, reducing cloud ingestion costs.</a:t>
            </a:r>
            <a:endParaRPr lang="en-US" sz="1350" dirty="0"/>
          </a:p>
        </p:txBody>
      </p:sp>
      <p:pic>
        <p:nvPicPr>
          <p:cNvPr id="18" name="Image 0" descr="preencoded.png">
            <a:extLst>
              <a:ext uri="{FF2B5EF4-FFF2-40B4-BE49-F238E27FC236}">
                <a16:creationId xmlns:a16="http://schemas.microsoft.com/office/drawing/2014/main" id="{60DD9555-A4FC-4248-3C88-7661B6DD62B4}"/>
              </a:ext>
            </a:extLst>
          </p:cNvPr>
          <p:cNvPicPr>
            <a:picLocks noChangeAspect="1"/>
          </p:cNvPicPr>
          <p:nvPr/>
        </p:nvPicPr>
        <p:blipFill>
          <a:blip r:embed="rId4"/>
          <a:stretch>
            <a:fillRect/>
          </a:stretch>
        </p:blipFill>
        <p:spPr>
          <a:xfrm>
            <a:off x="1240512" y="674370"/>
            <a:ext cx="7060526" cy="5703213"/>
          </a:xfrm>
          <a:prstGeom prst="rect">
            <a:avLst/>
          </a:prstGeom>
        </p:spPr>
      </p:pic>
      <p:pic>
        <p:nvPicPr>
          <p:cNvPr id="19" name="Image 1" descr="preencoded.png">
            <a:extLst>
              <a:ext uri="{FF2B5EF4-FFF2-40B4-BE49-F238E27FC236}">
                <a16:creationId xmlns:a16="http://schemas.microsoft.com/office/drawing/2014/main" id="{40FE8934-A0A2-A072-85E2-B197F6D0C454}"/>
              </a:ext>
            </a:extLst>
          </p:cNvPr>
          <p:cNvPicPr>
            <a:picLocks noChangeAspect="1"/>
          </p:cNvPicPr>
          <p:nvPr/>
        </p:nvPicPr>
        <p:blipFill>
          <a:blip r:embed="rId5"/>
          <a:stretch>
            <a:fillRect/>
          </a:stretch>
        </p:blipFill>
        <p:spPr>
          <a:xfrm>
            <a:off x="1240512" y="674370"/>
            <a:ext cx="7060526" cy="570321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77516"/>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FFFFFF"/>
                </a:solidFill>
                <a:latin typeface="Roboto Mono Medium" pitchFamily="34" charset="0"/>
                <a:ea typeface="Roboto Mono Medium" pitchFamily="34" charset="-122"/>
                <a:cs typeface="Roboto Mono Medium" pitchFamily="34" charset="-120"/>
              </a:rPr>
              <a:t>Scalable design in Smart Iconic Vault</a:t>
            </a:r>
            <a:endParaRPr lang="en-US" sz="4450" dirty="0"/>
          </a:p>
        </p:txBody>
      </p:sp>
      <p:sp>
        <p:nvSpPr>
          <p:cNvPr id="3" name="Text 1"/>
          <p:cNvSpPr/>
          <p:nvPr/>
        </p:nvSpPr>
        <p:spPr>
          <a:xfrm>
            <a:off x="793790" y="3039308"/>
            <a:ext cx="7389972" cy="3504009"/>
          </a:xfrm>
          <a:prstGeom prst="rect">
            <a:avLst/>
          </a:prstGeom>
          <a:noFill/>
          <a:ln/>
        </p:spPr>
        <p:txBody>
          <a:bodyPr wrap="square" lIns="0" tIns="0" rIns="0" bIns="0" rtlCol="0" anchor="t"/>
          <a:lstStyle/>
          <a:p>
            <a:pPr marL="342900" indent="-342900" algn="l">
              <a:lnSpc>
                <a:spcPts val="2850"/>
              </a:lnSpc>
              <a:buSzPct val="100000"/>
              <a:buChar char="•"/>
            </a:pPr>
            <a:r>
              <a:rPr lang="en-US" sz="2000" b="1" dirty="0">
                <a:solidFill>
                  <a:srgbClr val="E5E0DF"/>
                </a:solidFill>
                <a:latin typeface="Roboto" pitchFamily="34" charset="0"/>
                <a:ea typeface="Roboto" pitchFamily="34" charset="-122"/>
                <a:cs typeface="Roboto" pitchFamily="34" charset="-120"/>
              </a:rPr>
              <a:t>Serverless API:</a:t>
            </a:r>
            <a:r>
              <a:rPr lang="en-US" sz="2000" dirty="0">
                <a:solidFill>
                  <a:srgbClr val="E5E0DF"/>
                </a:solidFill>
                <a:latin typeface="Roboto" pitchFamily="34" charset="0"/>
                <a:ea typeface="Roboto" pitchFamily="34" charset="-122"/>
                <a:cs typeface="Roboto" pitchFamily="34" charset="-120"/>
              </a:rPr>
              <a:t> OCR processing on AWS Lambda and API Gateway scales automatically with traffic spikes.</a:t>
            </a:r>
            <a:endParaRPr lang="en-US" sz="2000" dirty="0"/>
          </a:p>
          <a:p>
            <a:pPr marL="342900" indent="-342900" algn="l">
              <a:lnSpc>
                <a:spcPts val="2850"/>
              </a:lnSpc>
              <a:buSzPct val="100000"/>
              <a:buChar char="•"/>
            </a:pPr>
            <a:r>
              <a:rPr lang="en-US" sz="2000" b="1" dirty="0">
                <a:solidFill>
                  <a:srgbClr val="E5E0DF"/>
                </a:solidFill>
                <a:latin typeface="Roboto" pitchFamily="34" charset="0"/>
                <a:ea typeface="Roboto" pitchFamily="34" charset="-122"/>
                <a:cs typeface="Roboto" pitchFamily="34" charset="-120"/>
              </a:rPr>
              <a:t>Asynchronous Workload:</a:t>
            </a:r>
            <a:r>
              <a:rPr lang="en-US" sz="2000" dirty="0">
                <a:solidFill>
                  <a:srgbClr val="E5E0DF"/>
                </a:solidFill>
                <a:latin typeface="Roboto" pitchFamily="34" charset="0"/>
                <a:ea typeface="Roboto" pitchFamily="34" charset="-122"/>
                <a:cs typeface="Roboto" pitchFamily="34" charset="-120"/>
              </a:rPr>
              <a:t> Amazon SQS decouples API calls from background OCR tasks, ensuring front-end responsiveness.</a:t>
            </a:r>
            <a:endParaRPr lang="en-US" sz="2000" dirty="0"/>
          </a:p>
          <a:p>
            <a:pPr marL="342900" indent="-342900" algn="l">
              <a:lnSpc>
                <a:spcPts val="2850"/>
              </a:lnSpc>
              <a:buSzPct val="100000"/>
              <a:buChar char="•"/>
            </a:pPr>
            <a:r>
              <a:rPr lang="en-US" sz="2000" b="1" dirty="0">
                <a:solidFill>
                  <a:srgbClr val="E5E0DF"/>
                </a:solidFill>
                <a:latin typeface="Roboto" pitchFamily="34" charset="0"/>
                <a:ea typeface="Roboto" pitchFamily="34" charset="-122"/>
                <a:cs typeface="Roboto" pitchFamily="34" charset="-120"/>
              </a:rPr>
              <a:t>Managed Data Storage:</a:t>
            </a:r>
            <a:r>
              <a:rPr lang="en-US" sz="2000" dirty="0">
                <a:solidFill>
                  <a:srgbClr val="E5E0DF"/>
                </a:solidFill>
                <a:latin typeface="Roboto" pitchFamily="34" charset="0"/>
                <a:ea typeface="Roboto" pitchFamily="34" charset="-122"/>
                <a:cs typeface="Roboto" pitchFamily="34" charset="-120"/>
              </a:rPr>
              <a:t> DynamoDB provide scalable object storage and NoSQL database capabilities without manual sharding.</a:t>
            </a:r>
            <a:endParaRPr lang="en-US" sz="2000" dirty="0"/>
          </a:p>
          <a:p>
            <a:pPr marL="342900" indent="-342900" algn="l">
              <a:lnSpc>
                <a:spcPts val="2850"/>
              </a:lnSpc>
              <a:buSzPct val="100000"/>
              <a:buChar char="•"/>
            </a:pPr>
            <a:r>
              <a:rPr lang="en-US" sz="2000" b="1" dirty="0">
                <a:solidFill>
                  <a:srgbClr val="E5E0DF"/>
                </a:solidFill>
                <a:latin typeface="Roboto" pitchFamily="34" charset="0"/>
                <a:ea typeface="Roboto" pitchFamily="34" charset="-122"/>
                <a:cs typeface="Roboto" pitchFamily="34" charset="-120"/>
              </a:rPr>
              <a:t>Stateless Architecture:</a:t>
            </a:r>
            <a:r>
              <a:rPr lang="en-US" sz="2000" dirty="0">
                <a:solidFill>
                  <a:srgbClr val="E5E0DF"/>
                </a:solidFill>
                <a:latin typeface="Roboto" pitchFamily="34" charset="0"/>
                <a:ea typeface="Roboto" pitchFamily="34" charset="-122"/>
                <a:cs typeface="Roboto" pitchFamily="34" charset="-120"/>
              </a:rPr>
              <a:t> Lambda functions remain stateless and DynamoDB for durable state, enabling robust horizontal scaling.</a:t>
            </a:r>
            <a:endParaRPr lang="en-US" sz="2000" dirty="0"/>
          </a:p>
        </p:txBody>
      </p:sp>
      <p:sp>
        <p:nvSpPr>
          <p:cNvPr id="4" name="Shape 2"/>
          <p:cNvSpPr/>
          <p:nvPr/>
        </p:nvSpPr>
        <p:spPr>
          <a:xfrm>
            <a:off x="9968712" y="1827132"/>
            <a:ext cx="3261513" cy="2353100"/>
          </a:xfrm>
          <a:prstGeom prst="roundRect">
            <a:avLst>
              <a:gd name="adj" fmla="val 788"/>
            </a:avLst>
          </a:prstGeom>
          <a:solidFill>
            <a:srgbClr val="1A535C"/>
          </a:solidFill>
          <a:ln/>
        </p:spPr>
      </p:sp>
      <p:pic>
        <p:nvPicPr>
          <p:cNvPr id="5" name="Image 0" descr="preencoded.png"/>
          <p:cNvPicPr>
            <a:picLocks noChangeAspect="1"/>
          </p:cNvPicPr>
          <p:nvPr/>
        </p:nvPicPr>
        <p:blipFill>
          <a:blip r:embed="rId3"/>
          <a:stretch>
            <a:fillRect/>
          </a:stretch>
        </p:blipFill>
        <p:spPr>
          <a:xfrm>
            <a:off x="10168540" y="1902362"/>
            <a:ext cx="2847373" cy="2277870"/>
          </a:xfrm>
          <a:prstGeom prst="rect">
            <a:avLst/>
          </a:prstGeom>
        </p:spPr>
      </p:pic>
      <p:pic>
        <p:nvPicPr>
          <p:cNvPr id="7" name="Picture 6">
            <a:extLst>
              <a:ext uri="{FF2B5EF4-FFF2-40B4-BE49-F238E27FC236}">
                <a16:creationId xmlns:a16="http://schemas.microsoft.com/office/drawing/2014/main" id="{AD657810-E0A2-DF56-00C0-B40688AE1836}"/>
              </a:ext>
            </a:extLst>
          </p:cNvPr>
          <p:cNvPicPr>
            <a:picLocks noChangeAspect="1"/>
          </p:cNvPicPr>
          <p:nvPr/>
        </p:nvPicPr>
        <p:blipFill>
          <a:blip r:embed="rId4"/>
          <a:stretch>
            <a:fillRect/>
          </a:stretch>
        </p:blipFill>
        <p:spPr>
          <a:xfrm>
            <a:off x="8398074" y="4606437"/>
            <a:ext cx="5990772" cy="3308837"/>
          </a:xfrm>
          <a:prstGeom prst="rect">
            <a:avLst/>
          </a:prstGeom>
        </p:spPr>
      </p:pic>
    </p:spTree>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80640" y="619164"/>
            <a:ext cx="9402121" cy="563961"/>
          </a:xfrm>
          <a:prstGeom prst="rect">
            <a:avLst/>
          </a:prstGeom>
          <a:noFill/>
          <a:ln/>
        </p:spPr>
        <p:txBody>
          <a:bodyPr wrap="none" lIns="0" tIns="0" rIns="0" bIns="0" rtlCol="0" anchor="t"/>
          <a:lstStyle/>
          <a:p>
            <a:pPr marL="0" indent="0" algn="l">
              <a:lnSpc>
                <a:spcPts val="3500"/>
              </a:lnSpc>
              <a:buNone/>
            </a:pPr>
            <a:r>
              <a:rPr lang="en-US" sz="3600" dirty="0">
                <a:solidFill>
                  <a:srgbClr val="F3F3F2"/>
                </a:solidFill>
                <a:latin typeface="IBM Plex Sans Medium" pitchFamily="34" charset="0"/>
                <a:ea typeface="IBM Plex Sans Medium" pitchFamily="34" charset="-122"/>
                <a:cs typeface="IBM Plex Sans Medium" pitchFamily="34" charset="-120"/>
              </a:rPr>
              <a:t>Hardest Challenge &amp; Solution</a:t>
            </a:r>
            <a:endParaRPr lang="en-US" sz="3600" dirty="0"/>
          </a:p>
        </p:txBody>
      </p:sp>
      <p:sp>
        <p:nvSpPr>
          <p:cNvPr id="3" name="Shape 1"/>
          <p:cNvSpPr/>
          <p:nvPr/>
        </p:nvSpPr>
        <p:spPr>
          <a:xfrm>
            <a:off x="880640" y="1961203"/>
            <a:ext cx="5087249" cy="2254179"/>
          </a:xfrm>
          <a:prstGeom prst="roundRect">
            <a:avLst>
              <a:gd name="adj" fmla="val 5333"/>
            </a:avLst>
          </a:prstGeom>
          <a:solidFill>
            <a:srgbClr val="292C32"/>
          </a:solidFill>
          <a:ln w="15240">
            <a:solidFill>
              <a:srgbClr val="61646A"/>
            </a:solidFill>
            <a:prstDash val="solid"/>
          </a:ln>
        </p:spPr>
      </p:sp>
      <p:sp>
        <p:nvSpPr>
          <p:cNvPr id="4" name="Shape 2"/>
          <p:cNvSpPr/>
          <p:nvPr/>
        </p:nvSpPr>
        <p:spPr>
          <a:xfrm>
            <a:off x="865400" y="1961203"/>
            <a:ext cx="96326" cy="2254179"/>
          </a:xfrm>
          <a:prstGeom prst="roundRect">
            <a:avLst>
              <a:gd name="adj" fmla="val 35107"/>
            </a:avLst>
          </a:prstGeom>
          <a:solidFill>
            <a:srgbClr val="FFBC8F"/>
          </a:solidFill>
          <a:ln/>
        </p:spPr>
      </p:sp>
      <p:sp>
        <p:nvSpPr>
          <p:cNvPr id="5" name="Text 3"/>
          <p:cNvSpPr/>
          <p:nvPr/>
        </p:nvSpPr>
        <p:spPr>
          <a:xfrm>
            <a:off x="1084237" y="2119080"/>
            <a:ext cx="2818117" cy="366272"/>
          </a:xfrm>
          <a:prstGeom prst="rect">
            <a:avLst/>
          </a:prstGeom>
          <a:noFill/>
          <a:ln/>
        </p:spPr>
        <p:txBody>
          <a:bodyPr wrap="none" lIns="0" tIns="0" rIns="0" bIns="0" rtlCol="0" anchor="t"/>
          <a:lstStyle/>
          <a:p>
            <a:pPr marL="0" indent="0" algn="l">
              <a:lnSpc>
                <a:spcPts val="1750"/>
              </a:lnSpc>
              <a:buNone/>
            </a:pPr>
            <a:r>
              <a:rPr lang="en-US" sz="2400" dirty="0">
                <a:solidFill>
                  <a:srgbClr val="D4D4D1"/>
                </a:solidFill>
                <a:latin typeface="IBM Plex Sans Medium" pitchFamily="34" charset="0"/>
                <a:ea typeface="IBM Plex Sans Medium" pitchFamily="34" charset="-122"/>
                <a:cs typeface="IBM Plex Sans Medium" pitchFamily="34" charset="-120"/>
              </a:rPr>
              <a:t>The Challenge</a:t>
            </a:r>
            <a:endParaRPr lang="en-US" sz="2400" dirty="0"/>
          </a:p>
        </p:txBody>
      </p:sp>
      <p:sp>
        <p:nvSpPr>
          <p:cNvPr id="6" name="Text 4"/>
          <p:cNvSpPr/>
          <p:nvPr/>
        </p:nvSpPr>
        <p:spPr>
          <a:xfrm>
            <a:off x="1084236" y="2431618"/>
            <a:ext cx="4516061" cy="1221690"/>
          </a:xfrm>
          <a:prstGeom prst="rect">
            <a:avLst/>
          </a:prstGeom>
          <a:noFill/>
          <a:ln/>
        </p:spPr>
        <p:txBody>
          <a:bodyPr wrap="square" lIns="0" tIns="0" rIns="0" bIns="0" rtlCol="0" anchor="t"/>
          <a:lstStyle/>
          <a:p>
            <a:pPr marL="0" indent="0" algn="l">
              <a:buNone/>
            </a:pPr>
            <a:r>
              <a:rPr lang="en-US" sz="2000" dirty="0">
                <a:solidFill>
                  <a:srgbClr val="D4D4D1"/>
                </a:solidFill>
                <a:latin typeface="Roboto" pitchFamily="34" charset="0"/>
                <a:ea typeface="Roboto" pitchFamily="34" charset="-122"/>
                <a:cs typeface="Roboto" pitchFamily="34" charset="-120"/>
              </a:rPr>
              <a:t>Integrating the local server running sensors data pipeline with the cloud API and add to statically exported Amplify.</a:t>
            </a:r>
            <a:endParaRPr lang="en-US" sz="2000" dirty="0"/>
          </a:p>
        </p:txBody>
      </p:sp>
      <p:sp>
        <p:nvSpPr>
          <p:cNvPr id="7" name="Shape 5"/>
          <p:cNvSpPr/>
          <p:nvPr/>
        </p:nvSpPr>
        <p:spPr>
          <a:xfrm>
            <a:off x="880640" y="3422576"/>
            <a:ext cx="5087249" cy="1833085"/>
          </a:xfrm>
          <a:prstGeom prst="roundRect">
            <a:avLst>
              <a:gd name="adj" fmla="val 4196"/>
            </a:avLst>
          </a:prstGeom>
          <a:solidFill>
            <a:srgbClr val="292C32"/>
          </a:solidFill>
          <a:ln w="15240">
            <a:solidFill>
              <a:srgbClr val="61646A"/>
            </a:solidFill>
            <a:prstDash val="solid"/>
          </a:ln>
        </p:spPr>
      </p:sp>
      <p:sp>
        <p:nvSpPr>
          <p:cNvPr id="8" name="Shape 6"/>
          <p:cNvSpPr/>
          <p:nvPr/>
        </p:nvSpPr>
        <p:spPr>
          <a:xfrm>
            <a:off x="865400" y="3422576"/>
            <a:ext cx="96326" cy="2865024"/>
          </a:xfrm>
          <a:prstGeom prst="roundRect">
            <a:avLst>
              <a:gd name="adj" fmla="val 35107"/>
            </a:avLst>
          </a:prstGeom>
          <a:solidFill>
            <a:srgbClr val="FFBC8F"/>
          </a:solidFill>
          <a:ln/>
        </p:spPr>
      </p:sp>
      <p:sp>
        <p:nvSpPr>
          <p:cNvPr id="9" name="Text 7"/>
          <p:cNvSpPr/>
          <p:nvPr/>
        </p:nvSpPr>
        <p:spPr>
          <a:xfrm>
            <a:off x="1084235" y="3808891"/>
            <a:ext cx="2818117" cy="366272"/>
          </a:xfrm>
          <a:prstGeom prst="rect">
            <a:avLst/>
          </a:prstGeom>
          <a:noFill/>
          <a:ln/>
        </p:spPr>
        <p:txBody>
          <a:bodyPr wrap="none" lIns="0" tIns="0" rIns="0" bIns="0" rtlCol="0" anchor="t"/>
          <a:lstStyle/>
          <a:p>
            <a:pPr marL="0" indent="0" algn="l">
              <a:lnSpc>
                <a:spcPts val="1750"/>
              </a:lnSpc>
              <a:buNone/>
            </a:pPr>
            <a:r>
              <a:rPr lang="en-US" sz="2400" dirty="0">
                <a:solidFill>
                  <a:srgbClr val="D4D4D1"/>
                </a:solidFill>
                <a:latin typeface="IBM Plex Sans Medium" pitchFamily="34" charset="0"/>
                <a:ea typeface="IBM Plex Sans Medium" pitchFamily="34" charset="-122"/>
                <a:cs typeface="IBM Plex Sans Medium" pitchFamily="34" charset="-120"/>
              </a:rPr>
              <a:t>Key Issues</a:t>
            </a:r>
            <a:endParaRPr lang="en-US" sz="2400" dirty="0"/>
          </a:p>
        </p:txBody>
      </p:sp>
      <p:sp>
        <p:nvSpPr>
          <p:cNvPr id="10" name="Text 8"/>
          <p:cNvSpPr/>
          <p:nvPr/>
        </p:nvSpPr>
        <p:spPr>
          <a:xfrm>
            <a:off x="1084236" y="4104185"/>
            <a:ext cx="4516061" cy="1832535"/>
          </a:xfrm>
          <a:prstGeom prst="rect">
            <a:avLst/>
          </a:prstGeom>
          <a:noFill/>
          <a:ln/>
        </p:spPr>
        <p:txBody>
          <a:bodyPr wrap="square" lIns="0" tIns="0" rIns="0" bIns="0" rtlCol="0" anchor="t"/>
          <a:lstStyle/>
          <a:p>
            <a:pPr marL="0" indent="0" algn="l">
              <a:buNone/>
            </a:pPr>
            <a:r>
              <a:rPr lang="en-US" b="1" dirty="0">
                <a:solidFill>
                  <a:srgbClr val="D4D4D1"/>
                </a:solidFill>
                <a:latin typeface="Roboto" pitchFamily="34" charset="0"/>
                <a:ea typeface="Roboto" pitchFamily="34" charset="-122"/>
                <a:cs typeface="Roboto" pitchFamily="34" charset="-120"/>
              </a:rPr>
              <a:t>Amplify doesn’t allow any http-based URL’s </a:t>
            </a:r>
            <a:r>
              <a:rPr lang="en-US" dirty="0">
                <a:solidFill>
                  <a:srgbClr val="D4D4D1"/>
                </a:solidFill>
                <a:latin typeface="Roboto" pitchFamily="34" charset="0"/>
                <a:ea typeface="Roboto" pitchFamily="34" charset="-122"/>
                <a:cs typeface="Roboto" pitchFamily="34" charset="-120"/>
              </a:rPr>
              <a:t>but local host runs on port 3000 and is http based.</a:t>
            </a:r>
            <a:r>
              <a:rPr lang="en-US" b="1" dirty="0">
                <a:solidFill>
                  <a:srgbClr val="D4D4D1"/>
                </a:solidFill>
                <a:latin typeface="Roboto" pitchFamily="34" charset="0"/>
                <a:ea typeface="Roboto" pitchFamily="34" charset="-122"/>
                <a:cs typeface="Roboto" pitchFamily="34" charset="-120"/>
              </a:rPr>
              <a:t> </a:t>
            </a:r>
            <a:endParaRPr lang="en-US" dirty="0"/>
          </a:p>
        </p:txBody>
      </p:sp>
      <p:sp>
        <p:nvSpPr>
          <p:cNvPr id="11" name="Shape 9"/>
          <p:cNvSpPr/>
          <p:nvPr/>
        </p:nvSpPr>
        <p:spPr>
          <a:xfrm>
            <a:off x="880640" y="5255661"/>
            <a:ext cx="5087249" cy="1718359"/>
          </a:xfrm>
          <a:prstGeom prst="roundRect">
            <a:avLst>
              <a:gd name="adj" fmla="val 4697"/>
            </a:avLst>
          </a:prstGeom>
          <a:solidFill>
            <a:srgbClr val="292C32"/>
          </a:solidFill>
          <a:ln w="15240">
            <a:solidFill>
              <a:srgbClr val="61646A"/>
            </a:solidFill>
            <a:prstDash val="solid"/>
          </a:ln>
        </p:spPr>
        <p:txBody>
          <a:bodyPr/>
          <a:lstStyle/>
          <a:p>
            <a:endParaRPr lang="en-IN" dirty="0"/>
          </a:p>
        </p:txBody>
      </p:sp>
      <p:sp>
        <p:nvSpPr>
          <p:cNvPr id="12" name="Shape 10"/>
          <p:cNvSpPr/>
          <p:nvPr/>
        </p:nvSpPr>
        <p:spPr>
          <a:xfrm>
            <a:off x="865400" y="5255661"/>
            <a:ext cx="45719" cy="1718359"/>
          </a:xfrm>
          <a:prstGeom prst="roundRect">
            <a:avLst>
              <a:gd name="adj" fmla="val 35107"/>
            </a:avLst>
          </a:prstGeom>
          <a:solidFill>
            <a:srgbClr val="FFBC8F"/>
          </a:solidFill>
          <a:ln/>
        </p:spPr>
      </p:sp>
      <p:sp>
        <p:nvSpPr>
          <p:cNvPr id="13" name="Text 11"/>
          <p:cNvSpPr/>
          <p:nvPr/>
        </p:nvSpPr>
        <p:spPr>
          <a:xfrm>
            <a:off x="1084237" y="5413539"/>
            <a:ext cx="2818117" cy="356786"/>
          </a:xfrm>
          <a:prstGeom prst="rect">
            <a:avLst/>
          </a:prstGeom>
          <a:noFill/>
          <a:ln/>
        </p:spPr>
        <p:txBody>
          <a:bodyPr wrap="none" lIns="0" tIns="0" rIns="0" bIns="0" rtlCol="0" anchor="t"/>
          <a:lstStyle/>
          <a:p>
            <a:pPr marL="0" indent="0" algn="l">
              <a:lnSpc>
                <a:spcPts val="1750"/>
              </a:lnSpc>
              <a:buNone/>
            </a:pPr>
            <a:r>
              <a:rPr lang="en-US" sz="2400" dirty="0">
                <a:solidFill>
                  <a:srgbClr val="D4D4D1"/>
                </a:solidFill>
                <a:latin typeface="IBM Plex Sans Medium" pitchFamily="34" charset="0"/>
                <a:ea typeface="IBM Plex Sans Medium" pitchFamily="34" charset="-122"/>
                <a:cs typeface="IBM Plex Sans Medium" pitchFamily="34" charset="-120"/>
              </a:rPr>
              <a:t>The Solution</a:t>
            </a:r>
            <a:endParaRPr lang="en-US" sz="2400" dirty="0"/>
          </a:p>
        </p:txBody>
      </p:sp>
      <p:sp>
        <p:nvSpPr>
          <p:cNvPr id="14" name="Text 12"/>
          <p:cNvSpPr/>
          <p:nvPr/>
        </p:nvSpPr>
        <p:spPr>
          <a:xfrm>
            <a:off x="1084236" y="5726078"/>
            <a:ext cx="4516061" cy="1487563"/>
          </a:xfrm>
          <a:prstGeom prst="rect">
            <a:avLst/>
          </a:prstGeom>
          <a:noFill/>
          <a:ln/>
        </p:spPr>
        <p:txBody>
          <a:bodyPr wrap="square" lIns="0" tIns="0" rIns="0" bIns="0" rtlCol="0" anchor="t"/>
          <a:lstStyle/>
          <a:p>
            <a:pPr marL="0" indent="0" algn="l">
              <a:buNone/>
            </a:pPr>
            <a:r>
              <a:rPr lang="en-US" dirty="0">
                <a:solidFill>
                  <a:srgbClr val="D4D4D1"/>
                </a:solidFill>
                <a:latin typeface="Roboto" pitchFamily="34" charset="0"/>
                <a:ea typeface="Roboto" pitchFamily="34" charset="-122"/>
                <a:cs typeface="Roboto" pitchFamily="34" charset="-120"/>
              </a:rPr>
              <a:t>Using </a:t>
            </a:r>
            <a:r>
              <a:rPr lang="en-US" dirty="0" err="1">
                <a:solidFill>
                  <a:srgbClr val="D4D4D1"/>
                </a:solidFill>
                <a:latin typeface="Roboto" pitchFamily="34" charset="0"/>
                <a:ea typeface="Roboto" pitchFamily="34" charset="-122"/>
                <a:cs typeface="Roboto" pitchFamily="34" charset="-120"/>
              </a:rPr>
              <a:t>ngrok</a:t>
            </a:r>
            <a:r>
              <a:rPr lang="en-US" dirty="0">
                <a:solidFill>
                  <a:srgbClr val="D4D4D1"/>
                </a:solidFill>
                <a:latin typeface="Roboto" pitchFamily="34" charset="0"/>
                <a:ea typeface="Roboto" pitchFamily="34" charset="-122"/>
                <a:cs typeface="Roboto" pitchFamily="34" charset="-120"/>
              </a:rPr>
              <a:t> to provide the https version of the localhost and acts as live server which made easy for this integration.</a:t>
            </a:r>
            <a:endParaRPr lang="en-US" dirty="0"/>
          </a:p>
        </p:txBody>
      </p:sp>
      <p:pic>
        <p:nvPicPr>
          <p:cNvPr id="17" name="Picture 16">
            <a:extLst>
              <a:ext uri="{FF2B5EF4-FFF2-40B4-BE49-F238E27FC236}">
                <a16:creationId xmlns:a16="http://schemas.microsoft.com/office/drawing/2014/main" id="{9B1EB1B4-2E1B-5595-DA53-E43E63FE6FA3}"/>
              </a:ext>
            </a:extLst>
          </p:cNvPr>
          <p:cNvPicPr>
            <a:picLocks noChangeAspect="1"/>
          </p:cNvPicPr>
          <p:nvPr/>
        </p:nvPicPr>
        <p:blipFill>
          <a:blip r:embed="rId3"/>
          <a:stretch>
            <a:fillRect/>
          </a:stretch>
        </p:blipFill>
        <p:spPr>
          <a:xfrm>
            <a:off x="6171485" y="1144968"/>
            <a:ext cx="8253175" cy="3139712"/>
          </a:xfrm>
          <a:prstGeom prst="rect">
            <a:avLst/>
          </a:prstGeom>
        </p:spPr>
      </p:pic>
      <p:pic>
        <p:nvPicPr>
          <p:cNvPr id="19" name="Picture 18">
            <a:extLst>
              <a:ext uri="{FF2B5EF4-FFF2-40B4-BE49-F238E27FC236}">
                <a16:creationId xmlns:a16="http://schemas.microsoft.com/office/drawing/2014/main" id="{0D15B4B4-7A2A-1680-BA8F-11CD2325CDCD}"/>
              </a:ext>
            </a:extLst>
          </p:cNvPr>
          <p:cNvPicPr>
            <a:picLocks noChangeAspect="1"/>
          </p:cNvPicPr>
          <p:nvPr/>
        </p:nvPicPr>
        <p:blipFill>
          <a:blip r:embed="rId4"/>
          <a:stretch>
            <a:fillRect/>
          </a:stretch>
        </p:blipFill>
        <p:spPr>
          <a:xfrm>
            <a:off x="11258734" y="3580656"/>
            <a:ext cx="3218132" cy="4290843"/>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5944314" y="882311"/>
            <a:ext cx="3815596" cy="408980"/>
          </a:xfrm>
          <a:prstGeom prst="rect">
            <a:avLst/>
          </a:prstGeom>
          <a:noFill/>
          <a:ln/>
        </p:spPr>
        <p:txBody>
          <a:bodyPr wrap="none" lIns="0" tIns="0" rIns="0" bIns="0" rtlCol="0" anchor="t"/>
          <a:lstStyle/>
          <a:p>
            <a:pPr marL="0" indent="0" algn="l">
              <a:lnSpc>
                <a:spcPts val="3200"/>
              </a:lnSpc>
              <a:buNone/>
            </a:pPr>
            <a:r>
              <a:rPr lang="en-US" sz="4400" dirty="0">
                <a:solidFill>
                  <a:srgbClr val="F3F3F2"/>
                </a:solidFill>
                <a:latin typeface="IBM Plex Sans Medium" pitchFamily="34" charset="0"/>
                <a:ea typeface="IBM Plex Sans Medium" pitchFamily="34" charset="-122"/>
                <a:cs typeface="IBM Plex Sans Medium" pitchFamily="34" charset="-120"/>
              </a:rPr>
              <a:t>Demonstration Highlights</a:t>
            </a:r>
            <a:endParaRPr lang="en-US" sz="4400" dirty="0"/>
          </a:p>
        </p:txBody>
      </p:sp>
      <p:sp>
        <p:nvSpPr>
          <p:cNvPr id="4" name="Text 1"/>
          <p:cNvSpPr/>
          <p:nvPr/>
        </p:nvSpPr>
        <p:spPr>
          <a:xfrm>
            <a:off x="5944314" y="1404520"/>
            <a:ext cx="8228171" cy="543223"/>
          </a:xfrm>
          <a:prstGeom prst="rect">
            <a:avLst/>
          </a:prstGeom>
          <a:noFill/>
          <a:ln/>
        </p:spPr>
        <p:txBody>
          <a:bodyPr wrap="none" lIns="0" tIns="0" rIns="0" bIns="0" rtlCol="0" anchor="t"/>
          <a:lstStyle/>
          <a:p>
            <a:pPr marL="0" indent="0" algn="l">
              <a:lnSpc>
                <a:spcPts val="1250"/>
              </a:lnSpc>
              <a:buNone/>
            </a:pPr>
            <a:r>
              <a:rPr lang="en-US" sz="1600" dirty="0">
                <a:solidFill>
                  <a:srgbClr val="D4D4D1"/>
                </a:solidFill>
                <a:latin typeface="Roboto" pitchFamily="34" charset="0"/>
                <a:ea typeface="Roboto" pitchFamily="34" charset="-122"/>
                <a:cs typeface="Roboto" pitchFamily="34" charset="-120"/>
              </a:rPr>
              <a:t>The live dashboard gives operators a complete, real time view of data hall health</a:t>
            </a:r>
          </a:p>
          <a:p>
            <a:pPr marL="0" indent="0" algn="l">
              <a:lnSpc>
                <a:spcPts val="1250"/>
              </a:lnSpc>
              <a:buNone/>
            </a:pPr>
            <a:r>
              <a:rPr lang="en-US" sz="1600" dirty="0">
                <a:solidFill>
                  <a:srgbClr val="D4D4D1"/>
                </a:solidFill>
                <a:latin typeface="Roboto" pitchFamily="34" charset="0"/>
                <a:ea typeface="Roboto" pitchFamily="34" charset="-122"/>
                <a:cs typeface="Roboto" pitchFamily="34" charset="-120"/>
              </a:rPr>
              <a:t>from individual rack readings to facility wide risk scores.</a:t>
            </a:r>
            <a:endParaRPr lang="en-US" sz="16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83154" y="2337435"/>
            <a:ext cx="176570" cy="176570"/>
          </a:xfrm>
          <a:prstGeom prst="rect">
            <a:avLst/>
          </a:prstGeom>
        </p:spPr>
      </p:pic>
      <p:sp>
        <p:nvSpPr>
          <p:cNvPr id="10" name="Shape 6"/>
          <p:cNvSpPr/>
          <p:nvPr/>
        </p:nvSpPr>
        <p:spPr>
          <a:xfrm>
            <a:off x="5944314" y="1806654"/>
            <a:ext cx="8228171" cy="1144429"/>
          </a:xfrm>
          <a:prstGeom prst="roundRect">
            <a:avLst>
              <a:gd name="adj" fmla="val 1715"/>
            </a:avLst>
          </a:prstGeom>
          <a:solidFill>
            <a:srgbClr val="484B51"/>
          </a:solidFill>
          <a:ln/>
        </p:spPr>
      </p:sp>
      <p:sp>
        <p:nvSpPr>
          <p:cNvPr id="11" name="Shape 7"/>
          <p:cNvSpPr/>
          <p:nvPr/>
        </p:nvSpPr>
        <p:spPr>
          <a:xfrm>
            <a:off x="6075164" y="1937504"/>
            <a:ext cx="392549" cy="392549"/>
          </a:xfrm>
          <a:prstGeom prst="roundRect">
            <a:avLst>
              <a:gd name="adj" fmla="val 23291578"/>
            </a:avLst>
          </a:prstGeom>
          <a:solidFill>
            <a:srgbClr val="FFBC8F"/>
          </a:solidFill>
          <a:ln/>
        </p:spPr>
      </p:sp>
      <p:pic>
        <p:nvPicPr>
          <p:cNvPr id="12"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83154" y="2045374"/>
            <a:ext cx="176570" cy="176570"/>
          </a:xfrm>
          <a:prstGeom prst="rect">
            <a:avLst/>
          </a:prstGeom>
        </p:spPr>
      </p:pic>
      <p:sp>
        <p:nvSpPr>
          <p:cNvPr id="13" name="Text 8"/>
          <p:cNvSpPr/>
          <p:nvPr/>
        </p:nvSpPr>
        <p:spPr>
          <a:xfrm>
            <a:off x="6075164" y="2405538"/>
            <a:ext cx="1635681" cy="204430"/>
          </a:xfrm>
          <a:prstGeom prst="rect">
            <a:avLst/>
          </a:prstGeom>
          <a:noFill/>
          <a:ln/>
        </p:spPr>
        <p:txBody>
          <a:bodyPr wrap="none" lIns="0" tIns="0" rIns="0" bIns="0" rtlCol="0" anchor="t"/>
          <a:lstStyle/>
          <a:p>
            <a:pPr marL="0" indent="0" algn="l">
              <a:lnSpc>
                <a:spcPts val="1600"/>
              </a:lnSpc>
              <a:buNone/>
            </a:pPr>
            <a:r>
              <a:rPr lang="en-US" sz="2400" dirty="0">
                <a:solidFill>
                  <a:srgbClr val="D4D4D1"/>
                </a:solidFill>
                <a:latin typeface="IBM Plex Sans Medium" pitchFamily="34" charset="0"/>
                <a:ea typeface="IBM Plex Sans Medium" pitchFamily="34" charset="-122"/>
                <a:cs typeface="IBM Plex Sans Medium" pitchFamily="34" charset="-120"/>
              </a:rPr>
              <a:t>Rack-Level Status</a:t>
            </a:r>
            <a:endParaRPr lang="en-US" sz="2400" dirty="0"/>
          </a:p>
        </p:txBody>
      </p:sp>
      <p:sp>
        <p:nvSpPr>
          <p:cNvPr id="14" name="Text 9"/>
          <p:cNvSpPr/>
          <p:nvPr/>
        </p:nvSpPr>
        <p:spPr>
          <a:xfrm>
            <a:off x="6075164" y="2655213"/>
            <a:ext cx="7966472" cy="165021"/>
          </a:xfrm>
          <a:prstGeom prst="rect">
            <a:avLst/>
          </a:prstGeom>
          <a:noFill/>
          <a:ln/>
        </p:spPr>
        <p:txBody>
          <a:bodyPr wrap="none" lIns="0" tIns="0" rIns="0" bIns="0" rtlCol="0" anchor="t"/>
          <a:lstStyle/>
          <a:p>
            <a:pPr marL="0" indent="0" algn="l">
              <a:lnSpc>
                <a:spcPts val="1250"/>
              </a:lnSpc>
              <a:buNone/>
            </a:pPr>
            <a:r>
              <a:rPr lang="en-US" sz="1600" dirty="0">
                <a:solidFill>
                  <a:srgbClr val="D4D4D1"/>
                </a:solidFill>
                <a:latin typeface="Roboto" pitchFamily="34" charset="0"/>
                <a:ea typeface="Roboto" pitchFamily="34" charset="-122"/>
                <a:cs typeface="Roboto" pitchFamily="34" charset="-120"/>
              </a:rPr>
              <a:t>Per-rack indicators: </a:t>
            </a:r>
            <a:r>
              <a:rPr lang="en-US" sz="1600" b="1" dirty="0">
                <a:solidFill>
                  <a:srgbClr val="D4D4D1"/>
                </a:solidFill>
                <a:latin typeface="Roboto" pitchFamily="34" charset="0"/>
                <a:ea typeface="Roboto" pitchFamily="34" charset="-122"/>
                <a:cs typeface="Roboto" pitchFamily="34" charset="-120"/>
              </a:rPr>
              <a:t>Normal / Warning / Critical</a:t>
            </a:r>
            <a:r>
              <a:rPr lang="en-US" sz="1600" dirty="0">
                <a:solidFill>
                  <a:srgbClr val="D4D4D1"/>
                </a:solidFill>
                <a:latin typeface="Roboto" pitchFamily="34" charset="0"/>
                <a:ea typeface="Roboto" pitchFamily="34" charset="-122"/>
                <a:cs typeface="Roboto" pitchFamily="34" charset="-120"/>
              </a:rPr>
              <a:t> with color coded severity.</a:t>
            </a:r>
            <a:endParaRPr lang="en-US" sz="1600" dirty="0"/>
          </a:p>
        </p:txBody>
      </p:sp>
      <p:sp>
        <p:nvSpPr>
          <p:cNvPr id="15" name="Shape 10"/>
          <p:cNvSpPr/>
          <p:nvPr/>
        </p:nvSpPr>
        <p:spPr>
          <a:xfrm>
            <a:off x="5944314" y="3026568"/>
            <a:ext cx="8228171" cy="1144429"/>
          </a:xfrm>
          <a:prstGeom prst="roundRect">
            <a:avLst>
              <a:gd name="adj" fmla="val 1715"/>
            </a:avLst>
          </a:prstGeom>
          <a:solidFill>
            <a:srgbClr val="484B51"/>
          </a:solidFill>
          <a:ln/>
        </p:spPr>
      </p:sp>
      <p:sp>
        <p:nvSpPr>
          <p:cNvPr id="16" name="Shape 11"/>
          <p:cNvSpPr/>
          <p:nvPr/>
        </p:nvSpPr>
        <p:spPr>
          <a:xfrm>
            <a:off x="6075164" y="3157418"/>
            <a:ext cx="392549" cy="392549"/>
          </a:xfrm>
          <a:prstGeom prst="roundRect">
            <a:avLst>
              <a:gd name="adj" fmla="val 23291578"/>
            </a:avLst>
          </a:prstGeom>
          <a:solidFill>
            <a:srgbClr val="FFBC8F"/>
          </a:solidFill>
          <a:ln/>
        </p:spPr>
      </p:sp>
      <p:pic>
        <p:nvPicPr>
          <p:cNvPr id="17"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83154" y="3265289"/>
            <a:ext cx="176570" cy="176570"/>
          </a:xfrm>
          <a:prstGeom prst="rect">
            <a:avLst/>
          </a:prstGeom>
        </p:spPr>
      </p:pic>
      <p:sp>
        <p:nvSpPr>
          <p:cNvPr id="18" name="Text 12"/>
          <p:cNvSpPr/>
          <p:nvPr/>
        </p:nvSpPr>
        <p:spPr>
          <a:xfrm>
            <a:off x="6075164" y="3625453"/>
            <a:ext cx="1635681" cy="204430"/>
          </a:xfrm>
          <a:prstGeom prst="rect">
            <a:avLst/>
          </a:prstGeom>
          <a:noFill/>
          <a:ln/>
        </p:spPr>
        <p:txBody>
          <a:bodyPr wrap="none" lIns="0" tIns="0" rIns="0" bIns="0" rtlCol="0" anchor="t"/>
          <a:lstStyle/>
          <a:p>
            <a:pPr marL="0" indent="0" algn="l">
              <a:lnSpc>
                <a:spcPts val="1600"/>
              </a:lnSpc>
              <a:buNone/>
            </a:pPr>
            <a:r>
              <a:rPr lang="en-US" sz="2400" dirty="0">
                <a:solidFill>
                  <a:srgbClr val="D4D4D1"/>
                </a:solidFill>
                <a:latin typeface="IBM Plex Sans Medium" pitchFamily="34" charset="0"/>
                <a:ea typeface="IBM Plex Sans Medium" pitchFamily="34" charset="-122"/>
                <a:cs typeface="IBM Plex Sans Medium" pitchFamily="34" charset="-120"/>
              </a:rPr>
              <a:t>Scenario Toggles</a:t>
            </a:r>
            <a:endParaRPr lang="en-US" sz="2400" dirty="0"/>
          </a:p>
        </p:txBody>
      </p:sp>
      <p:sp>
        <p:nvSpPr>
          <p:cNvPr id="19" name="Text 13"/>
          <p:cNvSpPr/>
          <p:nvPr/>
        </p:nvSpPr>
        <p:spPr>
          <a:xfrm>
            <a:off x="6075164" y="3875127"/>
            <a:ext cx="7966472" cy="165021"/>
          </a:xfrm>
          <a:prstGeom prst="rect">
            <a:avLst/>
          </a:prstGeom>
          <a:noFill/>
          <a:ln/>
        </p:spPr>
        <p:txBody>
          <a:bodyPr wrap="none" lIns="0" tIns="0" rIns="0" bIns="0" rtlCol="0" anchor="t"/>
          <a:lstStyle/>
          <a:p>
            <a:pPr marL="0" indent="0" algn="l">
              <a:lnSpc>
                <a:spcPts val="1250"/>
              </a:lnSpc>
              <a:buNone/>
            </a:pPr>
            <a:r>
              <a:rPr lang="en-US" sz="1600" dirty="0">
                <a:solidFill>
                  <a:srgbClr val="D4D4D1"/>
                </a:solidFill>
                <a:latin typeface="Roboto" pitchFamily="34" charset="0"/>
                <a:ea typeface="Roboto" pitchFamily="34" charset="-122"/>
                <a:cs typeface="Roboto" pitchFamily="34" charset="-120"/>
              </a:rPr>
              <a:t>Simulate AC failure, humidity spike, airflow loss and smoke events on demand.</a:t>
            </a:r>
            <a:endParaRPr lang="en-US" sz="1600" dirty="0"/>
          </a:p>
        </p:txBody>
      </p:sp>
      <p:sp>
        <p:nvSpPr>
          <p:cNvPr id="20" name="Shape 14"/>
          <p:cNvSpPr/>
          <p:nvPr/>
        </p:nvSpPr>
        <p:spPr>
          <a:xfrm>
            <a:off x="5944314" y="4246483"/>
            <a:ext cx="8228171" cy="1144429"/>
          </a:xfrm>
          <a:prstGeom prst="roundRect">
            <a:avLst>
              <a:gd name="adj" fmla="val 1715"/>
            </a:avLst>
          </a:prstGeom>
          <a:solidFill>
            <a:srgbClr val="484B51"/>
          </a:solidFill>
          <a:ln/>
        </p:spPr>
      </p:sp>
      <p:sp>
        <p:nvSpPr>
          <p:cNvPr id="21" name="Shape 15"/>
          <p:cNvSpPr/>
          <p:nvPr/>
        </p:nvSpPr>
        <p:spPr>
          <a:xfrm>
            <a:off x="6075164" y="4377333"/>
            <a:ext cx="392549" cy="392549"/>
          </a:xfrm>
          <a:prstGeom prst="roundRect">
            <a:avLst>
              <a:gd name="adj" fmla="val 23291578"/>
            </a:avLst>
          </a:prstGeom>
          <a:solidFill>
            <a:srgbClr val="FFBC8F"/>
          </a:solidFill>
          <a:ln/>
        </p:spPr>
      </p:sp>
      <p:pic>
        <p:nvPicPr>
          <p:cNvPr id="22"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83154" y="4485203"/>
            <a:ext cx="176570" cy="176570"/>
          </a:xfrm>
          <a:prstGeom prst="rect">
            <a:avLst/>
          </a:prstGeom>
        </p:spPr>
      </p:pic>
      <p:sp>
        <p:nvSpPr>
          <p:cNvPr id="23" name="Text 16"/>
          <p:cNvSpPr/>
          <p:nvPr/>
        </p:nvSpPr>
        <p:spPr>
          <a:xfrm>
            <a:off x="6075164" y="4845367"/>
            <a:ext cx="1635681" cy="204430"/>
          </a:xfrm>
          <a:prstGeom prst="rect">
            <a:avLst/>
          </a:prstGeom>
          <a:noFill/>
          <a:ln/>
        </p:spPr>
        <p:txBody>
          <a:bodyPr wrap="none" lIns="0" tIns="0" rIns="0" bIns="0" rtlCol="0" anchor="t"/>
          <a:lstStyle/>
          <a:p>
            <a:pPr marL="0" indent="0" algn="l">
              <a:lnSpc>
                <a:spcPts val="1600"/>
              </a:lnSpc>
              <a:buNone/>
            </a:pPr>
            <a:r>
              <a:rPr lang="en-US" sz="2400" dirty="0">
                <a:solidFill>
                  <a:srgbClr val="D4D4D1"/>
                </a:solidFill>
                <a:latin typeface="IBM Plex Sans Medium" pitchFamily="34" charset="0"/>
                <a:ea typeface="IBM Plex Sans Medium" pitchFamily="34" charset="-122"/>
                <a:cs typeface="IBM Plex Sans Medium" pitchFamily="34" charset="-120"/>
              </a:rPr>
              <a:t>Risk Scoring</a:t>
            </a:r>
            <a:endParaRPr lang="en-US" sz="2400" dirty="0"/>
          </a:p>
        </p:txBody>
      </p:sp>
      <p:sp>
        <p:nvSpPr>
          <p:cNvPr id="24" name="Text 17"/>
          <p:cNvSpPr/>
          <p:nvPr/>
        </p:nvSpPr>
        <p:spPr>
          <a:xfrm>
            <a:off x="6075164" y="5095041"/>
            <a:ext cx="7966472" cy="165021"/>
          </a:xfrm>
          <a:prstGeom prst="rect">
            <a:avLst/>
          </a:prstGeom>
          <a:noFill/>
          <a:ln/>
        </p:spPr>
        <p:txBody>
          <a:bodyPr wrap="none" lIns="0" tIns="0" rIns="0" bIns="0" rtlCol="0" anchor="t"/>
          <a:lstStyle/>
          <a:p>
            <a:pPr marL="0" indent="0" algn="l">
              <a:lnSpc>
                <a:spcPts val="1250"/>
              </a:lnSpc>
              <a:buNone/>
            </a:pPr>
            <a:r>
              <a:rPr lang="en-US" sz="1600" dirty="0">
                <a:solidFill>
                  <a:srgbClr val="D4D4D1"/>
                </a:solidFill>
                <a:latin typeface="Roboto" pitchFamily="34" charset="0"/>
                <a:ea typeface="Roboto" pitchFamily="34" charset="-122"/>
                <a:cs typeface="Roboto" pitchFamily="34" charset="-120"/>
              </a:rPr>
              <a:t>Dynamic composite risk score instantly highlights the highest severity rack hotspots.</a:t>
            </a:r>
            <a:endParaRPr lang="en-US" sz="1600" dirty="0"/>
          </a:p>
        </p:txBody>
      </p:sp>
      <p:pic>
        <p:nvPicPr>
          <p:cNvPr id="26" name="Picture 25">
            <a:extLst>
              <a:ext uri="{FF2B5EF4-FFF2-40B4-BE49-F238E27FC236}">
                <a16:creationId xmlns:a16="http://schemas.microsoft.com/office/drawing/2014/main" id="{E4C7D0D1-4825-DCE6-C618-813FA30C2A20}"/>
              </a:ext>
            </a:extLst>
          </p:cNvPr>
          <p:cNvPicPr>
            <a:picLocks noChangeAspect="1"/>
          </p:cNvPicPr>
          <p:nvPr/>
        </p:nvPicPr>
        <p:blipFill>
          <a:blip r:embed="rId7"/>
          <a:srcRect t="19091"/>
          <a:stretch>
            <a:fillRect/>
          </a:stretch>
        </p:blipFill>
        <p:spPr>
          <a:xfrm>
            <a:off x="0" y="176997"/>
            <a:ext cx="5836326" cy="5548172"/>
          </a:xfrm>
          <a:prstGeom prst="rect">
            <a:avLst/>
          </a:prstGeom>
        </p:spPr>
      </p:pic>
      <p:sp>
        <p:nvSpPr>
          <p:cNvPr id="27" name="Text 0">
            <a:extLst>
              <a:ext uri="{FF2B5EF4-FFF2-40B4-BE49-F238E27FC236}">
                <a16:creationId xmlns:a16="http://schemas.microsoft.com/office/drawing/2014/main" id="{CD60D2CE-620B-E605-B5C1-997B3AAA83CB}"/>
              </a:ext>
            </a:extLst>
          </p:cNvPr>
          <p:cNvSpPr/>
          <p:nvPr/>
        </p:nvSpPr>
        <p:spPr>
          <a:xfrm>
            <a:off x="407254" y="5960953"/>
            <a:ext cx="6235184" cy="635318"/>
          </a:xfrm>
          <a:prstGeom prst="rect">
            <a:avLst/>
          </a:prstGeom>
          <a:noFill/>
          <a:ln/>
        </p:spPr>
        <p:txBody>
          <a:bodyPr wrap="none" lIns="0" tIns="0" rIns="0" bIns="0" rtlCol="0" anchor="t"/>
          <a:lstStyle/>
          <a:p>
            <a:pPr marL="0" indent="0" algn="l">
              <a:lnSpc>
                <a:spcPts val="5000"/>
              </a:lnSpc>
              <a:buNone/>
            </a:pPr>
            <a:r>
              <a:rPr lang="en-US" sz="4000" dirty="0">
                <a:solidFill>
                  <a:srgbClr val="F3F3F2"/>
                </a:solidFill>
                <a:latin typeface="IBM Plex Sans Medium" pitchFamily="34" charset="0"/>
                <a:ea typeface="IBM Plex Sans Medium" pitchFamily="34" charset="-122"/>
                <a:cs typeface="IBM Plex Sans Medium" pitchFamily="34" charset="-120"/>
              </a:rPr>
              <a:t>Future Scope</a:t>
            </a:r>
            <a:endParaRPr lang="en-US" sz="4000" dirty="0"/>
          </a:p>
        </p:txBody>
      </p:sp>
      <p:sp>
        <p:nvSpPr>
          <p:cNvPr id="30" name="Rectangle 2">
            <a:extLst>
              <a:ext uri="{FF2B5EF4-FFF2-40B4-BE49-F238E27FC236}">
                <a16:creationId xmlns:a16="http://schemas.microsoft.com/office/drawing/2014/main" id="{643DC6A5-63EF-496B-3249-263DC34AF28B}"/>
              </a:ext>
            </a:extLst>
          </p:cNvPr>
          <p:cNvSpPr>
            <a:spLocks noChangeArrowheads="1"/>
          </p:cNvSpPr>
          <p:nvPr/>
        </p:nvSpPr>
        <p:spPr bwMode="auto">
          <a:xfrm>
            <a:off x="407253" y="6562683"/>
            <a:ext cx="1376523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FontTx/>
              <a:buChar char="•"/>
            </a:pPr>
            <a:r>
              <a:rPr lang="en-US" altLang="en-US" b="1" dirty="0">
                <a:latin typeface="Arial" panose="020B0604020202020204" pitchFamily="34" charset="0"/>
              </a:rPr>
              <a:t>Expanded Sensor Network:</a:t>
            </a:r>
            <a:r>
              <a:rPr lang="en-US" altLang="en-US" dirty="0">
                <a:latin typeface="Arial" panose="020B0604020202020204" pitchFamily="34" charset="0"/>
              </a:rPr>
              <a:t> Add more sensors for finer‑grained monitoring. </a:t>
            </a:r>
            <a:endParaRPr lang="en-US" altLang="en-US" b="1" dirty="0">
              <a:latin typeface="Arial" panose="020B0604020202020204" pitchFamily="34" charset="0"/>
            </a:endParaRPr>
          </a:p>
          <a:p>
            <a:pPr lvl="0" defTabSz="914400" eaLnBrk="0" fontAlgn="base" hangingPunct="0">
              <a:spcBef>
                <a:spcPct val="0"/>
              </a:spcBef>
              <a:spcAft>
                <a:spcPct val="0"/>
              </a:spcAft>
              <a:buFontTx/>
              <a:buChar char="•"/>
            </a:pPr>
            <a:r>
              <a:rPr lang="en-US" altLang="en-US" b="1" dirty="0">
                <a:latin typeface="Arial" panose="020B0604020202020204" pitchFamily="34" charset="0"/>
              </a:rPr>
              <a:t>Sensor‑Triggered Actions:</a:t>
            </a:r>
            <a:r>
              <a:rPr lang="en-US" altLang="en-US" dirty="0">
                <a:latin typeface="Arial" panose="020B0604020202020204" pitchFamily="34" charset="0"/>
              </a:rPr>
              <a:t> Real‑time automatic adjustments based on sensor readings.</a:t>
            </a:r>
          </a:p>
          <a:p>
            <a:pPr lvl="0" defTabSz="914400" eaLnBrk="0" fontAlgn="base" hangingPunct="0">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AI‑Driven Predictions &amp; </a:t>
            </a:r>
            <a:r>
              <a:rPr lang="en-US" altLang="en-US" b="1" dirty="0">
                <a:latin typeface="Arial" panose="020B0604020202020204" pitchFamily="34" charset="0"/>
              </a:rPr>
              <a:t>Recommendations </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Early anomaly detection using patterns from historical sensor data and Automatic suggestions for preventive actions during emergencies.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Automated DC Health Checks:</a:t>
            </a:r>
            <a:r>
              <a:rPr kumimoji="0" lang="en-US" altLang="en-US" sz="1800" b="0" i="0" u="none" strike="noStrike" cap="none" normalizeH="0" baseline="0" dirty="0">
                <a:ln>
                  <a:noFill/>
                </a:ln>
                <a:solidFill>
                  <a:schemeClr val="tx1"/>
                </a:solidFill>
                <a:effectLst/>
                <a:latin typeface="Arial" panose="020B0604020202020204" pitchFamily="34" charset="0"/>
              </a:rPr>
              <a:t> Scheduled system wide scans to ensure optimal environment.</a:t>
            </a:r>
          </a:p>
        </p:txBody>
      </p:sp>
    </p:spTree>
  </p:cSld>
  <p:clrMapOvr>
    <a:masterClrMapping/>
  </p:clrMapOvr>
  <p:transition spd="slow">
    <p:comb/>
  </p:transition>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1518" y="711637"/>
            <a:ext cx="6235184" cy="635318"/>
          </a:xfrm>
          <a:prstGeom prst="rect">
            <a:avLst/>
          </a:prstGeom>
          <a:noFill/>
          <a:ln/>
        </p:spPr>
        <p:txBody>
          <a:bodyPr wrap="none" lIns="0" tIns="0" rIns="0" bIns="0" rtlCol="0" anchor="t"/>
          <a:lstStyle/>
          <a:p>
            <a:pPr marL="0" indent="0" algn="l">
              <a:lnSpc>
                <a:spcPts val="5000"/>
              </a:lnSpc>
              <a:buNone/>
            </a:pPr>
            <a:r>
              <a:rPr lang="en-US" sz="4000" dirty="0">
                <a:solidFill>
                  <a:srgbClr val="F3F3F2"/>
                </a:solidFill>
                <a:latin typeface="IBM Plex Sans Medium" pitchFamily="34" charset="0"/>
                <a:ea typeface="IBM Plex Sans Medium" pitchFamily="34" charset="-122"/>
                <a:cs typeface="IBM Plex Sans Medium" pitchFamily="34" charset="-120"/>
              </a:rPr>
              <a:t>Results &amp; System Behavior</a:t>
            </a:r>
            <a:endParaRPr lang="en-US" sz="4000" dirty="0"/>
          </a:p>
        </p:txBody>
      </p:sp>
      <p:sp>
        <p:nvSpPr>
          <p:cNvPr id="3" name="Text 1"/>
          <p:cNvSpPr/>
          <p:nvPr/>
        </p:nvSpPr>
        <p:spPr>
          <a:xfrm>
            <a:off x="711518" y="1711285"/>
            <a:ext cx="13207365" cy="308253"/>
          </a:xfrm>
          <a:prstGeom prst="rect">
            <a:avLst/>
          </a:prstGeom>
          <a:noFill/>
          <a:ln/>
        </p:spPr>
        <p:txBody>
          <a:bodyPr wrap="none" lIns="0" tIns="0" rIns="0" bIns="0" rtlCol="0" anchor="t"/>
          <a:lstStyle/>
          <a:p>
            <a:pPr marL="0" indent="0" algn="l">
              <a:lnSpc>
                <a:spcPts val="2400"/>
              </a:lnSpc>
              <a:buNone/>
            </a:pPr>
            <a:r>
              <a:rPr lang="en-US" sz="1600" dirty="0">
                <a:solidFill>
                  <a:srgbClr val="D4D4D1"/>
                </a:solidFill>
                <a:latin typeface="Roboto" pitchFamily="34" charset="0"/>
                <a:ea typeface="Roboto" pitchFamily="34" charset="-122"/>
                <a:cs typeface="Roboto" pitchFamily="34" charset="-120"/>
              </a:rPr>
              <a:t>ThermoSentinel delivered a stable, end to end pipeline validated in both local fog only and full cloud connected modes.</a:t>
            </a:r>
            <a:endParaRPr lang="en-US" sz="1600" dirty="0"/>
          </a:p>
        </p:txBody>
      </p:sp>
      <p:sp>
        <p:nvSpPr>
          <p:cNvPr id="4" name="Text 2"/>
          <p:cNvSpPr/>
          <p:nvPr/>
        </p:nvSpPr>
        <p:spPr>
          <a:xfrm>
            <a:off x="711518" y="2326005"/>
            <a:ext cx="6489859" cy="670798"/>
          </a:xfrm>
          <a:prstGeom prst="rect">
            <a:avLst/>
          </a:prstGeom>
          <a:noFill/>
          <a:ln/>
        </p:spPr>
        <p:txBody>
          <a:bodyPr wrap="none" lIns="0" tIns="0" rIns="0" bIns="0" rtlCol="0" anchor="t"/>
          <a:lstStyle/>
          <a:p>
            <a:pPr marL="0" indent="0" algn="ctr">
              <a:lnSpc>
                <a:spcPts val="5250"/>
              </a:lnSpc>
              <a:buNone/>
            </a:pPr>
            <a:r>
              <a:rPr lang="en-US" sz="5250" dirty="0">
                <a:solidFill>
                  <a:srgbClr val="D4D4D1"/>
                </a:solidFill>
                <a:latin typeface="IBM Plex Sans Medium" pitchFamily="34" charset="0"/>
                <a:ea typeface="IBM Plex Sans Medium" pitchFamily="34" charset="-122"/>
                <a:cs typeface="IBM Plex Sans Medium" pitchFamily="34" charset="-120"/>
              </a:rPr>
              <a:t>30s</a:t>
            </a:r>
            <a:endParaRPr lang="en-US" sz="5250" dirty="0"/>
          </a:p>
        </p:txBody>
      </p:sp>
      <p:sp>
        <p:nvSpPr>
          <p:cNvPr id="5" name="Text 3"/>
          <p:cNvSpPr/>
          <p:nvPr/>
        </p:nvSpPr>
        <p:spPr>
          <a:xfrm>
            <a:off x="2685812" y="3234928"/>
            <a:ext cx="2541151" cy="317540"/>
          </a:xfrm>
          <a:prstGeom prst="rect">
            <a:avLst/>
          </a:prstGeom>
          <a:noFill/>
          <a:ln/>
        </p:spPr>
        <p:txBody>
          <a:bodyPr wrap="none" lIns="0" tIns="0" rIns="0" bIns="0" rtlCol="0" anchor="t"/>
          <a:lstStyle/>
          <a:p>
            <a:pPr marL="0" indent="0" algn="ctr">
              <a:lnSpc>
                <a:spcPts val="2500"/>
              </a:lnSpc>
              <a:buNone/>
            </a:pPr>
            <a:r>
              <a:rPr lang="en-US" sz="2000" dirty="0">
                <a:solidFill>
                  <a:srgbClr val="D4D4D1"/>
                </a:solidFill>
                <a:latin typeface="IBM Plex Sans Medium" pitchFamily="34" charset="0"/>
                <a:ea typeface="IBM Plex Sans Medium" pitchFamily="34" charset="-122"/>
                <a:cs typeface="IBM Plex Sans Medium" pitchFamily="34" charset="-120"/>
              </a:rPr>
              <a:t>Dashboard Refresh</a:t>
            </a:r>
            <a:endParaRPr lang="en-US" sz="2000" dirty="0"/>
          </a:p>
        </p:txBody>
      </p:sp>
      <p:sp>
        <p:nvSpPr>
          <p:cNvPr id="6" name="Text 4"/>
          <p:cNvSpPr/>
          <p:nvPr/>
        </p:nvSpPr>
        <p:spPr>
          <a:xfrm>
            <a:off x="711518" y="3661767"/>
            <a:ext cx="6489859" cy="308253"/>
          </a:xfrm>
          <a:prstGeom prst="rect">
            <a:avLst/>
          </a:prstGeom>
          <a:noFill/>
          <a:ln/>
        </p:spPr>
        <p:txBody>
          <a:bodyPr wrap="none" lIns="0" tIns="0" rIns="0" bIns="0" rtlCol="0" anchor="t"/>
          <a:lstStyle/>
          <a:p>
            <a:pPr marL="0" indent="0" algn="ctr">
              <a:lnSpc>
                <a:spcPts val="2400"/>
              </a:lnSpc>
              <a:buNone/>
            </a:pPr>
            <a:r>
              <a:rPr lang="en-US" sz="1600" dirty="0">
                <a:solidFill>
                  <a:srgbClr val="D4D4D1"/>
                </a:solidFill>
                <a:latin typeface="Roboto" pitchFamily="34" charset="0"/>
                <a:ea typeface="Roboto" pitchFamily="34" charset="-122"/>
                <a:cs typeface="Roboto" pitchFamily="34" charset="-120"/>
              </a:rPr>
              <a:t>Live charts update every 30 seconds across all sensor dimensions.</a:t>
            </a:r>
            <a:endParaRPr lang="en-US" sz="1600" dirty="0"/>
          </a:p>
        </p:txBody>
      </p:sp>
      <p:sp>
        <p:nvSpPr>
          <p:cNvPr id="7" name="Text 5"/>
          <p:cNvSpPr/>
          <p:nvPr/>
        </p:nvSpPr>
        <p:spPr>
          <a:xfrm>
            <a:off x="7429024" y="2326005"/>
            <a:ext cx="6489859" cy="670798"/>
          </a:xfrm>
          <a:prstGeom prst="rect">
            <a:avLst/>
          </a:prstGeom>
          <a:noFill/>
          <a:ln/>
        </p:spPr>
        <p:txBody>
          <a:bodyPr wrap="none" lIns="0" tIns="0" rIns="0" bIns="0" rtlCol="0" anchor="t"/>
          <a:lstStyle/>
          <a:p>
            <a:pPr marL="0" indent="0" algn="ctr">
              <a:lnSpc>
                <a:spcPts val="5250"/>
              </a:lnSpc>
              <a:buNone/>
            </a:pPr>
            <a:r>
              <a:rPr lang="en-US" sz="5250" dirty="0">
                <a:solidFill>
                  <a:srgbClr val="D4D4D1"/>
                </a:solidFill>
                <a:latin typeface="IBM Plex Sans Medium" pitchFamily="34" charset="0"/>
                <a:ea typeface="IBM Plex Sans Medium" pitchFamily="34" charset="-122"/>
                <a:cs typeface="IBM Plex Sans Medium" pitchFamily="34" charset="-120"/>
              </a:rPr>
              <a:t>5</a:t>
            </a:r>
            <a:endParaRPr lang="en-US" sz="5250" dirty="0"/>
          </a:p>
        </p:txBody>
      </p:sp>
      <p:sp>
        <p:nvSpPr>
          <p:cNvPr id="8" name="Text 6"/>
          <p:cNvSpPr/>
          <p:nvPr/>
        </p:nvSpPr>
        <p:spPr>
          <a:xfrm>
            <a:off x="9403318" y="3234928"/>
            <a:ext cx="2541151" cy="317540"/>
          </a:xfrm>
          <a:prstGeom prst="rect">
            <a:avLst/>
          </a:prstGeom>
          <a:noFill/>
          <a:ln/>
        </p:spPr>
        <p:txBody>
          <a:bodyPr wrap="none" lIns="0" tIns="0" rIns="0" bIns="0" rtlCol="0" anchor="t"/>
          <a:lstStyle/>
          <a:p>
            <a:pPr marL="0" indent="0" algn="ctr">
              <a:lnSpc>
                <a:spcPts val="2500"/>
              </a:lnSpc>
              <a:buNone/>
            </a:pPr>
            <a:r>
              <a:rPr lang="en-US" sz="2000" dirty="0">
                <a:solidFill>
                  <a:srgbClr val="D4D4D1"/>
                </a:solidFill>
                <a:latin typeface="IBM Plex Sans Medium" pitchFamily="34" charset="0"/>
                <a:ea typeface="IBM Plex Sans Medium" pitchFamily="34" charset="-122"/>
                <a:cs typeface="IBM Plex Sans Medium" pitchFamily="34" charset="-120"/>
              </a:rPr>
              <a:t>Sensor Dimensions</a:t>
            </a:r>
            <a:endParaRPr lang="en-US" sz="2000" dirty="0"/>
          </a:p>
        </p:txBody>
      </p:sp>
      <p:sp>
        <p:nvSpPr>
          <p:cNvPr id="9" name="Text 7"/>
          <p:cNvSpPr/>
          <p:nvPr/>
        </p:nvSpPr>
        <p:spPr>
          <a:xfrm>
            <a:off x="7429024" y="3661767"/>
            <a:ext cx="6489859" cy="616506"/>
          </a:xfrm>
          <a:prstGeom prst="rect">
            <a:avLst/>
          </a:prstGeom>
          <a:noFill/>
          <a:ln/>
        </p:spPr>
        <p:txBody>
          <a:bodyPr wrap="square" lIns="0" tIns="0" rIns="0" bIns="0" rtlCol="0" anchor="t"/>
          <a:lstStyle/>
          <a:p>
            <a:pPr marL="0" indent="0" algn="ctr">
              <a:lnSpc>
                <a:spcPts val="2400"/>
              </a:lnSpc>
              <a:buNone/>
            </a:pPr>
            <a:r>
              <a:rPr lang="en-US" sz="1600" dirty="0">
                <a:solidFill>
                  <a:srgbClr val="D4D4D1"/>
                </a:solidFill>
                <a:latin typeface="Roboto" pitchFamily="34" charset="0"/>
                <a:ea typeface="Roboto" pitchFamily="34" charset="-122"/>
                <a:cs typeface="Roboto" pitchFamily="34" charset="-120"/>
              </a:rPr>
              <a:t>Temperature, humidity, pressure, airflow and smoke monitored simultaneously.</a:t>
            </a:r>
            <a:endParaRPr lang="en-US" sz="1600" dirty="0"/>
          </a:p>
        </p:txBody>
      </p:sp>
      <p:sp>
        <p:nvSpPr>
          <p:cNvPr id="10" name="Text 8"/>
          <p:cNvSpPr/>
          <p:nvPr/>
        </p:nvSpPr>
        <p:spPr>
          <a:xfrm>
            <a:off x="711518" y="4744164"/>
            <a:ext cx="6489859" cy="670798"/>
          </a:xfrm>
          <a:prstGeom prst="rect">
            <a:avLst/>
          </a:prstGeom>
          <a:noFill/>
          <a:ln/>
        </p:spPr>
        <p:txBody>
          <a:bodyPr wrap="none" lIns="0" tIns="0" rIns="0" bIns="0" rtlCol="0" anchor="t"/>
          <a:lstStyle/>
          <a:p>
            <a:pPr marL="0" indent="0" algn="ctr">
              <a:lnSpc>
                <a:spcPts val="5250"/>
              </a:lnSpc>
              <a:buNone/>
            </a:pPr>
            <a:r>
              <a:rPr lang="en-US" sz="5250" dirty="0">
                <a:solidFill>
                  <a:srgbClr val="D4D4D1"/>
                </a:solidFill>
                <a:latin typeface="IBM Plex Sans Medium" pitchFamily="34" charset="0"/>
                <a:ea typeface="IBM Plex Sans Medium" pitchFamily="34" charset="-122"/>
                <a:cs typeface="IBM Plex Sans Medium" pitchFamily="34" charset="-120"/>
              </a:rPr>
              <a:t>3</a:t>
            </a:r>
            <a:endParaRPr lang="en-US" sz="5250" dirty="0"/>
          </a:p>
        </p:txBody>
      </p:sp>
      <p:sp>
        <p:nvSpPr>
          <p:cNvPr id="11" name="Text 9"/>
          <p:cNvSpPr/>
          <p:nvPr/>
        </p:nvSpPr>
        <p:spPr>
          <a:xfrm>
            <a:off x="2685812" y="5653088"/>
            <a:ext cx="2541151" cy="317540"/>
          </a:xfrm>
          <a:prstGeom prst="rect">
            <a:avLst/>
          </a:prstGeom>
          <a:noFill/>
          <a:ln/>
        </p:spPr>
        <p:txBody>
          <a:bodyPr wrap="none" lIns="0" tIns="0" rIns="0" bIns="0" rtlCol="0" anchor="t"/>
          <a:lstStyle/>
          <a:p>
            <a:pPr marL="0" indent="0" algn="ctr">
              <a:lnSpc>
                <a:spcPts val="2500"/>
              </a:lnSpc>
              <a:buNone/>
            </a:pPr>
            <a:r>
              <a:rPr lang="en-US" sz="2000" dirty="0">
                <a:solidFill>
                  <a:srgbClr val="D4D4D1"/>
                </a:solidFill>
                <a:latin typeface="IBM Plex Sans Medium" pitchFamily="34" charset="0"/>
                <a:ea typeface="IBM Plex Sans Medium" pitchFamily="34" charset="-122"/>
                <a:cs typeface="IBM Plex Sans Medium" pitchFamily="34" charset="-120"/>
              </a:rPr>
              <a:t>Architecture Tiers</a:t>
            </a:r>
            <a:endParaRPr lang="en-US" sz="2000" dirty="0"/>
          </a:p>
        </p:txBody>
      </p:sp>
      <p:sp>
        <p:nvSpPr>
          <p:cNvPr id="12" name="Text 10"/>
          <p:cNvSpPr/>
          <p:nvPr/>
        </p:nvSpPr>
        <p:spPr>
          <a:xfrm>
            <a:off x="711518" y="6079927"/>
            <a:ext cx="6489859" cy="308253"/>
          </a:xfrm>
          <a:prstGeom prst="rect">
            <a:avLst/>
          </a:prstGeom>
          <a:noFill/>
          <a:ln/>
        </p:spPr>
        <p:txBody>
          <a:bodyPr wrap="none" lIns="0" tIns="0" rIns="0" bIns="0" rtlCol="0" anchor="t"/>
          <a:lstStyle/>
          <a:p>
            <a:pPr marL="0" indent="0" algn="ctr">
              <a:lnSpc>
                <a:spcPts val="2400"/>
              </a:lnSpc>
              <a:buNone/>
            </a:pPr>
            <a:r>
              <a:rPr lang="en-US" sz="1600" dirty="0">
                <a:solidFill>
                  <a:srgbClr val="D4D4D1"/>
                </a:solidFill>
                <a:latin typeface="Roboto" pitchFamily="34" charset="0"/>
                <a:ea typeface="Roboto" pitchFamily="34" charset="-122"/>
                <a:cs typeface="Roboto" pitchFamily="34" charset="-120"/>
              </a:rPr>
              <a:t>Edge, fog, and cloud operating as a validated, production grade pipeline.</a:t>
            </a:r>
            <a:endParaRPr lang="en-US" sz="1600" dirty="0"/>
          </a:p>
        </p:txBody>
      </p:sp>
      <p:sp>
        <p:nvSpPr>
          <p:cNvPr id="13" name="Text 11"/>
          <p:cNvSpPr/>
          <p:nvPr/>
        </p:nvSpPr>
        <p:spPr>
          <a:xfrm>
            <a:off x="7429024" y="4744164"/>
            <a:ext cx="6489859" cy="670798"/>
          </a:xfrm>
          <a:prstGeom prst="rect">
            <a:avLst/>
          </a:prstGeom>
          <a:noFill/>
          <a:ln/>
        </p:spPr>
        <p:txBody>
          <a:bodyPr wrap="none" lIns="0" tIns="0" rIns="0" bIns="0" rtlCol="0" anchor="t"/>
          <a:lstStyle/>
          <a:p>
            <a:pPr marL="0" indent="0" algn="ctr">
              <a:lnSpc>
                <a:spcPts val="5250"/>
              </a:lnSpc>
              <a:buNone/>
            </a:pPr>
            <a:r>
              <a:rPr lang="en-US" sz="5250" dirty="0">
                <a:solidFill>
                  <a:srgbClr val="D4D4D1"/>
                </a:solidFill>
                <a:latin typeface="IBM Plex Sans Medium" pitchFamily="34" charset="0"/>
                <a:ea typeface="IBM Plex Sans Medium" pitchFamily="34" charset="-122"/>
                <a:cs typeface="IBM Plex Sans Medium" pitchFamily="34" charset="-120"/>
              </a:rPr>
              <a:t>0</a:t>
            </a:r>
            <a:endParaRPr lang="en-US" sz="5250" dirty="0"/>
          </a:p>
        </p:txBody>
      </p:sp>
      <p:sp>
        <p:nvSpPr>
          <p:cNvPr id="14" name="Text 12"/>
          <p:cNvSpPr/>
          <p:nvPr/>
        </p:nvSpPr>
        <p:spPr>
          <a:xfrm>
            <a:off x="9403318" y="5653088"/>
            <a:ext cx="2541151" cy="317540"/>
          </a:xfrm>
          <a:prstGeom prst="rect">
            <a:avLst/>
          </a:prstGeom>
          <a:noFill/>
          <a:ln/>
        </p:spPr>
        <p:txBody>
          <a:bodyPr wrap="none" lIns="0" tIns="0" rIns="0" bIns="0" rtlCol="0" anchor="t"/>
          <a:lstStyle/>
          <a:p>
            <a:pPr marL="0" indent="0" algn="ctr">
              <a:lnSpc>
                <a:spcPts val="2500"/>
              </a:lnSpc>
              <a:buNone/>
            </a:pPr>
            <a:r>
              <a:rPr lang="en-US" sz="2000" dirty="0">
                <a:solidFill>
                  <a:srgbClr val="D4D4D1"/>
                </a:solidFill>
                <a:latin typeface="IBM Plex Sans Medium" pitchFamily="34" charset="0"/>
                <a:ea typeface="IBM Plex Sans Medium" pitchFamily="34" charset="-122"/>
                <a:cs typeface="IBM Plex Sans Medium" pitchFamily="34" charset="-120"/>
              </a:rPr>
              <a:t>Data Dropped</a:t>
            </a:r>
            <a:endParaRPr lang="en-US" sz="2000" dirty="0"/>
          </a:p>
        </p:txBody>
      </p:sp>
      <p:sp>
        <p:nvSpPr>
          <p:cNvPr id="15" name="Text 13"/>
          <p:cNvSpPr/>
          <p:nvPr/>
        </p:nvSpPr>
        <p:spPr>
          <a:xfrm>
            <a:off x="7429024" y="6079927"/>
            <a:ext cx="6489859" cy="616506"/>
          </a:xfrm>
          <a:prstGeom prst="rect">
            <a:avLst/>
          </a:prstGeom>
          <a:noFill/>
          <a:ln/>
        </p:spPr>
        <p:txBody>
          <a:bodyPr wrap="square" lIns="0" tIns="0" rIns="0" bIns="0" rtlCol="0" anchor="t"/>
          <a:lstStyle/>
          <a:p>
            <a:pPr marL="0" indent="0" algn="ctr">
              <a:lnSpc>
                <a:spcPts val="2400"/>
              </a:lnSpc>
              <a:buNone/>
            </a:pPr>
            <a:r>
              <a:rPr lang="en-US" sz="1600" dirty="0">
                <a:solidFill>
                  <a:srgbClr val="D4D4D1"/>
                </a:solidFill>
                <a:latin typeface="Roboto" pitchFamily="34" charset="0"/>
                <a:ea typeface="Roboto" pitchFamily="34" charset="-122"/>
                <a:cs typeface="Roboto" pitchFamily="34" charset="-120"/>
              </a:rPr>
              <a:t>Fog buffering ensures zero reading loss during transient cloud connectivity gaps.</a:t>
            </a:r>
            <a:endParaRPr lang="en-US" sz="1600" dirty="0"/>
          </a:p>
        </p:txBody>
      </p:sp>
      <p:sp>
        <p:nvSpPr>
          <p:cNvPr id="16" name="Text 14"/>
          <p:cNvSpPr/>
          <p:nvPr/>
        </p:nvSpPr>
        <p:spPr>
          <a:xfrm>
            <a:off x="711518" y="6901339"/>
            <a:ext cx="13207365" cy="616506"/>
          </a:xfrm>
          <a:prstGeom prst="rect">
            <a:avLst/>
          </a:prstGeom>
          <a:noFill/>
          <a:ln/>
        </p:spPr>
        <p:txBody>
          <a:bodyPr wrap="square" lIns="0" tIns="0" rIns="0" bIns="0" rtlCol="0" anchor="t"/>
          <a:lstStyle/>
          <a:p>
            <a:pPr marL="0" indent="0" algn="l">
              <a:lnSpc>
                <a:spcPts val="2400"/>
              </a:lnSpc>
              <a:buNone/>
            </a:pPr>
            <a:r>
              <a:rPr lang="en-US" sz="1600" dirty="0">
                <a:solidFill>
                  <a:srgbClr val="D4D4D1"/>
                </a:solidFill>
                <a:latin typeface="Roboto" pitchFamily="34" charset="0"/>
                <a:ea typeface="Roboto" pitchFamily="34" charset="-122"/>
                <a:cs typeface="Roboto" pitchFamily="34" charset="-120"/>
              </a:rPr>
              <a:t>Fog batching demonstrably reduces bandwidth consumption and cloud ingestion latency, validating the three tier architecture's efficiency advantage over direct sensor to cloud approaches.</a:t>
            </a:r>
            <a:endParaRPr lang="en-US" sz="1600" dirty="0"/>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596033" y="4114800"/>
            <a:ext cx="5967770" cy="1371957"/>
          </a:xfrm>
          <a:prstGeom prst="rect">
            <a:avLst/>
          </a:prstGeom>
          <a:noFill/>
          <a:ln/>
        </p:spPr>
        <p:txBody>
          <a:bodyPr wrap="none" lIns="0" tIns="0" rIns="0" bIns="0" rtlCol="0" anchor="t"/>
          <a:lstStyle/>
          <a:p>
            <a:pPr marL="0" indent="0" algn="l">
              <a:lnSpc>
                <a:spcPts val="5550"/>
              </a:lnSpc>
              <a:buNone/>
            </a:pPr>
            <a:r>
              <a:rPr lang="en-US" sz="8000" dirty="0">
                <a:solidFill>
                  <a:srgbClr val="F3F3F2"/>
                </a:solidFill>
                <a:latin typeface="IBM Plex Sans Medium" pitchFamily="34" charset="0"/>
                <a:ea typeface="IBM Plex Sans Medium" pitchFamily="34" charset="-122"/>
                <a:cs typeface="IBM Plex Sans Medium" pitchFamily="34" charset="-120"/>
              </a:rPr>
              <a:t>THANK YOU.</a:t>
            </a:r>
            <a:endParaRPr lang="en-US" sz="8000" dirty="0"/>
          </a:p>
        </p:txBody>
      </p:sp>
      <p:pic>
        <p:nvPicPr>
          <p:cNvPr id="5" name="Picture 4">
            <a:extLst>
              <a:ext uri="{FF2B5EF4-FFF2-40B4-BE49-F238E27FC236}">
                <a16:creationId xmlns:a16="http://schemas.microsoft.com/office/drawing/2014/main" id="{8F5C0461-CA81-54E1-9ABE-EEDF931F3746}"/>
              </a:ext>
            </a:extLst>
          </p:cNvPr>
          <p:cNvPicPr>
            <a:picLocks noChangeAspect="1"/>
          </p:cNvPicPr>
          <p:nvPr/>
        </p:nvPicPr>
        <p:blipFill>
          <a:blip r:embed="rId3"/>
          <a:stretch>
            <a:fillRect/>
          </a:stretch>
        </p:blipFill>
        <p:spPr>
          <a:xfrm>
            <a:off x="8458200" y="0"/>
            <a:ext cx="6172200" cy="822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4177</TotalTime>
  <Words>1725</Words>
  <Application>Microsoft Office PowerPoint</Application>
  <PresentationFormat>Custom</PresentationFormat>
  <Paragraphs>148</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IBM Plex Sans Medium</vt:lpstr>
      <vt:lpstr>Calibri Light</vt:lpstr>
      <vt:lpstr>Roboto Mono Medium</vt:lpstr>
      <vt:lpstr>Roboto</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Sai Shreyas Gubbi Harish</cp:lastModifiedBy>
  <cp:revision>33</cp:revision>
  <dcterms:created xsi:type="dcterms:W3CDTF">2026-04-08T10:46:05Z</dcterms:created>
  <dcterms:modified xsi:type="dcterms:W3CDTF">2026-04-13T12:43:37Z</dcterms:modified>
</cp:coreProperties>
</file>